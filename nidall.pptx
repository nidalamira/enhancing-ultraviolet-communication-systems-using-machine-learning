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8"/>
  </p:notesMasterIdLst>
  <p:sldIdLst>
    <p:sldId id="256" r:id="rId2"/>
    <p:sldId id="257" r:id="rId3"/>
    <p:sldId id="258" r:id="rId4"/>
    <p:sldId id="291" r:id="rId5"/>
    <p:sldId id="259" r:id="rId6"/>
    <p:sldId id="292" r:id="rId7"/>
    <p:sldId id="293" r:id="rId8"/>
    <p:sldId id="294" r:id="rId9"/>
    <p:sldId id="295" r:id="rId10"/>
    <p:sldId id="271" r:id="rId11"/>
    <p:sldId id="296" r:id="rId12"/>
    <p:sldId id="297" r:id="rId13"/>
    <p:sldId id="298" r:id="rId14"/>
    <p:sldId id="299" r:id="rId15"/>
    <p:sldId id="301" r:id="rId16"/>
    <p:sldId id="300" r:id="rId17"/>
  </p:sldIdLst>
  <p:sldSz cx="9144000" cy="5143500" type="screen16x9"/>
  <p:notesSz cx="6858000" cy="9144000"/>
  <p:embeddedFontLst>
    <p:embeddedFont>
      <p:font typeface="Rajdhani" panose="020B0604020202020204" charset="0"/>
      <p:regular r:id="rId19"/>
      <p:bold r:id="rId20"/>
    </p:embeddedFont>
    <p:embeddedFont>
      <p:font typeface="Fira Sans Condensed" panose="020B0604020202020204" charset="0"/>
      <p:regular r:id="rId21"/>
      <p:bold r:id="rId22"/>
      <p:italic r:id="rId23"/>
      <p:boldItalic r:id="rId24"/>
    </p:embeddedFont>
    <p:embeddedFont>
      <p:font typeface="Fira Sans Condensed Light" panose="020B0604020202020204" charset="0"/>
      <p:regular r:id="rId25"/>
      <p:bold r:id="rId26"/>
      <p:italic r:id="rId27"/>
      <p:boldItalic r:id="rId28"/>
    </p:embeddedFont>
    <p:embeddedFont>
      <p:font typeface="Roboto"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625">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D1A0981-2A79-4138-BC83-6A15BDCCE5D1}">
  <a:tblStyle styleId="{9D1A0981-2A79-4138-BC83-6A15BDCCE5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94660"/>
  </p:normalViewPr>
  <p:slideViewPr>
    <p:cSldViewPr snapToGrid="0">
      <p:cViewPr>
        <p:scale>
          <a:sx n="102" d="100"/>
          <a:sy n="102" d="100"/>
        </p:scale>
        <p:origin x="-462" y="96"/>
      </p:cViewPr>
      <p:guideLst>
        <p:guide orient="horz" pos="62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849093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8a87eb8680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8a87eb868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8a87eb8680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8a87eb8680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6bcecd75a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6bcecd75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6bcecd75a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6bcecd75a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6bcecd75ae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6bcecd75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6bcecd75a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6bcecd75a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6bcecd75a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6bcecd75a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0" name="Google Shape;10;p2"/>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4" name="Google Shape;14;p3"/>
          <p:cNvSpPr txBox="1">
            <a:spLocks noGrp="1"/>
          </p:cNvSpPr>
          <p:nvPr>
            <p:ph type="title"/>
          </p:nvPr>
        </p:nvSpPr>
        <p:spPr>
          <a:xfrm>
            <a:off x="4634135" y="1434600"/>
            <a:ext cx="35328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7" name="Google Shape;17;p4"/>
          <p:cNvSpPr txBox="1">
            <a:spLocks noGrp="1"/>
          </p:cNvSpPr>
          <p:nvPr>
            <p:ph type="body" idx="1"/>
          </p:nvPr>
        </p:nvSpPr>
        <p:spPr>
          <a:xfrm>
            <a:off x="1115100" y="1152475"/>
            <a:ext cx="6913800" cy="3456000"/>
          </a:xfrm>
          <a:prstGeom prst="rect">
            <a:avLst/>
          </a:prstGeom>
          <a:solidFill>
            <a:schemeClr val="dk1">
              <a:alpha val="56699"/>
            </a:schemeClr>
          </a:solidFill>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191919"/>
              </a:buClr>
              <a:buSzPts val="1400"/>
              <a:buFont typeface="Anaheim"/>
              <a:buChar char="●"/>
              <a:defRPr sz="1400">
                <a:solidFill>
                  <a:srgbClr val="F3F3F3"/>
                </a:solidFill>
                <a:latin typeface="Fira Sans Condensed"/>
                <a:ea typeface="Fira Sans Condensed"/>
                <a:cs typeface="Fira Sans Condensed"/>
                <a:sym typeface="Fira Sans Condensed"/>
              </a:defRPr>
            </a:lvl1pPr>
            <a:lvl2pPr marL="914400" lvl="1" indent="-317500">
              <a:spcBef>
                <a:spcPts val="0"/>
              </a:spcBef>
              <a:spcAft>
                <a:spcPts val="0"/>
              </a:spcAft>
              <a:buClr>
                <a:srgbClr val="191919"/>
              </a:buClr>
              <a:buSzPts val="1400"/>
              <a:buFont typeface="Roboto Condensed Light"/>
              <a:buChar char="○"/>
              <a:defRPr sz="1400">
                <a:latin typeface="Fira Sans Condensed"/>
                <a:ea typeface="Fira Sans Condensed"/>
                <a:cs typeface="Fira Sans Condensed"/>
                <a:sym typeface="Fira Sans Condensed"/>
              </a:defRPr>
            </a:lvl2pPr>
            <a:lvl3pPr marL="1371600" lvl="2" indent="-317500">
              <a:spcBef>
                <a:spcPts val="0"/>
              </a:spcBef>
              <a:spcAft>
                <a:spcPts val="0"/>
              </a:spcAft>
              <a:buClr>
                <a:srgbClr val="191919"/>
              </a:buClr>
              <a:buSzPts val="1400"/>
              <a:buFont typeface="Roboto Condensed Light"/>
              <a:buChar char="■"/>
              <a:defRPr sz="1200"/>
            </a:lvl3pPr>
            <a:lvl4pPr marL="1828800" lvl="3" indent="-317500">
              <a:spcBef>
                <a:spcPts val="0"/>
              </a:spcBef>
              <a:spcAft>
                <a:spcPts val="0"/>
              </a:spcAft>
              <a:buClr>
                <a:srgbClr val="191919"/>
              </a:buClr>
              <a:buSzPts val="1400"/>
              <a:buFont typeface="Roboto Condensed Light"/>
              <a:buChar char="●"/>
              <a:defRPr sz="1200"/>
            </a:lvl4pPr>
            <a:lvl5pPr marL="2286000" lvl="4" indent="-317500">
              <a:spcBef>
                <a:spcPts val="0"/>
              </a:spcBef>
              <a:spcAft>
                <a:spcPts val="0"/>
              </a:spcAft>
              <a:buClr>
                <a:srgbClr val="191919"/>
              </a:buClr>
              <a:buSzPts val="1400"/>
              <a:buFont typeface="Roboto Condensed Light"/>
              <a:buChar char="○"/>
              <a:defRPr sz="1200"/>
            </a:lvl5pPr>
            <a:lvl6pPr marL="2743200" lvl="5" indent="-317500">
              <a:spcBef>
                <a:spcPts val="0"/>
              </a:spcBef>
              <a:spcAft>
                <a:spcPts val="0"/>
              </a:spcAft>
              <a:buClr>
                <a:srgbClr val="191919"/>
              </a:buClr>
              <a:buSzPts val="1400"/>
              <a:buFont typeface="Roboto Condensed Light"/>
              <a:buChar char="■"/>
              <a:defRPr sz="1200"/>
            </a:lvl6pPr>
            <a:lvl7pPr marL="3200400" lvl="6" indent="-317500">
              <a:spcBef>
                <a:spcPts val="0"/>
              </a:spcBef>
              <a:spcAft>
                <a:spcPts val="0"/>
              </a:spcAft>
              <a:buClr>
                <a:srgbClr val="191919"/>
              </a:buClr>
              <a:buSzPts val="1400"/>
              <a:buFont typeface="Roboto Condensed Light"/>
              <a:buChar char="●"/>
              <a:defRPr sz="1200"/>
            </a:lvl7pPr>
            <a:lvl8pPr marL="3657600" lvl="7" indent="-317500">
              <a:spcBef>
                <a:spcPts val="0"/>
              </a:spcBef>
              <a:spcAft>
                <a:spcPts val="0"/>
              </a:spcAft>
              <a:buClr>
                <a:srgbClr val="191919"/>
              </a:buClr>
              <a:buSzPts val="1400"/>
              <a:buFont typeface="Roboto Condensed Light"/>
              <a:buChar char="○"/>
              <a:defRPr sz="1200"/>
            </a:lvl8pPr>
            <a:lvl9pPr marL="4114800" lvl="8" indent="-317500">
              <a:spcBef>
                <a:spcPts val="0"/>
              </a:spcBef>
              <a:spcAft>
                <a:spcPts val="0"/>
              </a:spcAft>
              <a:buClr>
                <a:srgbClr val="191919"/>
              </a:buClr>
              <a:buSzPts val="1400"/>
              <a:buFont typeface="Roboto Condensed Light"/>
              <a:buChar char="■"/>
              <a:defRPr sz="1200"/>
            </a:lvl9pPr>
          </a:lstStyle>
          <a:p>
            <a:endParaRPr/>
          </a:p>
        </p:txBody>
      </p:sp>
      <p:sp>
        <p:nvSpPr>
          <p:cNvPr id="18" name="Google Shape;18;p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19"/>
        <p:cNvGrpSpPr/>
        <p:nvPr/>
      </p:nvGrpSpPr>
      <p:grpSpPr>
        <a:xfrm>
          <a:off x="0" y="0"/>
          <a:ext cx="0" cy="0"/>
          <a:chOff x="0" y="0"/>
          <a:chExt cx="0" cy="0"/>
        </a:xfrm>
      </p:grpSpPr>
      <p:pic>
        <p:nvPicPr>
          <p:cNvPr id="20" name="Google Shape;20;p5"/>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1" name="Google Shape;21;p5"/>
          <p:cNvSpPr txBox="1">
            <a:spLocks noGrp="1"/>
          </p:cNvSpPr>
          <p:nvPr>
            <p:ph type="subTitle" idx="1"/>
          </p:nvPr>
        </p:nvSpPr>
        <p:spPr>
          <a:xfrm flipH="1">
            <a:off x="55841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2" name="Google Shape;22;p5"/>
          <p:cNvSpPr txBox="1">
            <a:spLocks noGrp="1"/>
          </p:cNvSpPr>
          <p:nvPr>
            <p:ph type="subTitle" idx="2"/>
          </p:nvPr>
        </p:nvSpPr>
        <p:spPr>
          <a:xfrm flipH="1">
            <a:off x="50793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3" name="Google Shape;23;p5"/>
          <p:cNvSpPr txBox="1">
            <a:spLocks noGrp="1"/>
          </p:cNvSpPr>
          <p:nvPr>
            <p:ph type="subTitle" idx="3"/>
          </p:nvPr>
        </p:nvSpPr>
        <p:spPr>
          <a:xfrm flipH="1">
            <a:off x="18586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4" name="Google Shape;24;p5"/>
          <p:cNvSpPr txBox="1">
            <a:spLocks noGrp="1"/>
          </p:cNvSpPr>
          <p:nvPr>
            <p:ph type="subTitle" idx="4"/>
          </p:nvPr>
        </p:nvSpPr>
        <p:spPr>
          <a:xfrm flipH="1">
            <a:off x="13538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5" name="Google Shape;25;p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8" name="Google Shape;28;p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29"/>
        <p:cNvGrpSpPr/>
        <p:nvPr/>
      </p:nvGrpSpPr>
      <p:grpSpPr>
        <a:xfrm>
          <a:off x="0" y="0"/>
          <a:ext cx="0" cy="0"/>
          <a:chOff x="0" y="0"/>
          <a:chExt cx="0" cy="0"/>
        </a:xfrm>
      </p:grpSpPr>
      <p:pic>
        <p:nvPicPr>
          <p:cNvPr id="30" name="Google Shape;30;p7"/>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1" name="Google Shape;31;p7"/>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9pPr>
          </a:lstStyle>
          <a:p>
            <a:endParaRPr/>
          </a:p>
        </p:txBody>
      </p:sp>
      <p:sp>
        <p:nvSpPr>
          <p:cNvPr id="32" name="Google Shape;32;p7"/>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3"/>
        <p:cNvGrpSpPr/>
        <p:nvPr/>
      </p:nvGrpSpPr>
      <p:grpSpPr>
        <a:xfrm>
          <a:off x="0" y="0"/>
          <a:ext cx="0" cy="0"/>
          <a:chOff x="0" y="0"/>
          <a:chExt cx="0" cy="0"/>
        </a:xfrm>
      </p:grpSpPr>
      <p:pic>
        <p:nvPicPr>
          <p:cNvPr id="34" name="Google Shape;34;p8"/>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5" name="Google Shape;35;p8"/>
          <p:cNvSpPr txBox="1">
            <a:spLocks noGrp="1"/>
          </p:cNvSpPr>
          <p:nvPr>
            <p:ph type="title"/>
          </p:nvPr>
        </p:nvSpPr>
        <p:spPr>
          <a:xfrm>
            <a:off x="2422250" y="1418700"/>
            <a:ext cx="4299600" cy="230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36"/>
        <p:cNvGrpSpPr/>
        <p:nvPr/>
      </p:nvGrpSpPr>
      <p:grpSpPr>
        <a:xfrm>
          <a:off x="0" y="0"/>
          <a:ext cx="0" cy="0"/>
          <a:chOff x="0" y="0"/>
          <a:chExt cx="0" cy="0"/>
        </a:xfrm>
      </p:grpSpPr>
      <p:pic>
        <p:nvPicPr>
          <p:cNvPr id="37" name="Google Shape;37;p9"/>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8" name="Google Shape;38;p9"/>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Shape 41"/>
        <p:cNvGrpSpPr/>
        <p:nvPr/>
      </p:nvGrpSpPr>
      <p:grpSpPr>
        <a:xfrm>
          <a:off x="0" y="0"/>
          <a:ext cx="0" cy="0"/>
          <a:chOff x="0" y="0"/>
          <a:chExt cx="0" cy="0"/>
        </a:xfrm>
      </p:grpSpPr>
      <p:pic>
        <p:nvPicPr>
          <p:cNvPr id="42" name="Google Shape;42;p10"/>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3" name="Google Shape;43;p10"/>
          <p:cNvSpPr txBox="1">
            <a:spLocks noGrp="1"/>
          </p:cNvSpPr>
          <p:nvPr>
            <p:ph type="title"/>
          </p:nvPr>
        </p:nvSpPr>
        <p:spPr>
          <a:xfrm>
            <a:off x="720100" y="1706850"/>
            <a:ext cx="2759700" cy="172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45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pic>
        <p:nvPicPr>
          <p:cNvPr id="45" name="Google Shape;45;p11"/>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6" name="Google Shape;46;p11"/>
          <p:cNvSpPr txBox="1">
            <a:spLocks noGrp="1"/>
          </p:cNvSpPr>
          <p:nvPr>
            <p:ph type="title" hasCustomPrompt="1"/>
          </p:nvPr>
        </p:nvSpPr>
        <p:spPr>
          <a:xfrm>
            <a:off x="311700" y="2062500"/>
            <a:ext cx="8520600" cy="111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255700"/>
            <a:ext cx="8520600" cy="5154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Font typeface="Fira Sans Condensed"/>
              <a:buChar char="●"/>
              <a:defRPr sz="1400">
                <a:latin typeface="Fira Sans Condensed"/>
                <a:ea typeface="Fira Sans Condensed"/>
                <a:cs typeface="Fira Sans Condensed"/>
                <a:sym typeface="Fira Sans Condensed"/>
              </a:defRPr>
            </a:lvl1pPr>
            <a:lvl2pPr marL="914400" lvl="1"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2pPr>
            <a:lvl3pPr marL="1371600" lvl="2"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3pPr>
            <a:lvl4pPr marL="1828800" lvl="3"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4pPr>
            <a:lvl5pPr marL="2286000" lvl="4"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5pPr>
            <a:lvl6pPr marL="2743200" lvl="5"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6pPr>
            <a:lvl7pPr marL="3200400" lvl="6"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7pPr>
            <a:lvl8pPr marL="3657600" lvl="7"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8pPr>
            <a:lvl9pPr marL="4114800" lvl="8"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449">
          <p15:clr>
            <a:srgbClr val="EA4335"/>
          </p15:clr>
        </p15:guide>
        <p15:guide id="2" pos="2880">
          <p15:clr>
            <a:srgbClr val="EA4335"/>
          </p15:clr>
        </p15:guide>
        <p15:guide id="3" pos="5311">
          <p15:clr>
            <a:srgbClr val="EA4335"/>
          </p15:clr>
        </p15:guide>
        <p15:guide id="4" orient="horz" pos="340">
          <p15:clr>
            <a:srgbClr val="EA4335"/>
          </p15:clr>
        </p15:guide>
        <p15:guide id="5" orient="horz" pos="2903">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p>
            <a:pPr lvl="0"/>
            <a:r>
              <a:rPr lang="en-US" sz="3600" dirty="0"/>
              <a:t>Enhancing Ultraviolet Communication Systems </a:t>
            </a:r>
            <a:r>
              <a:rPr lang="en-US" sz="3600" dirty="0" smtClean="0"/>
              <a:t>Using Machine </a:t>
            </a:r>
            <a:r>
              <a:rPr lang="en-US" sz="3600" dirty="0"/>
              <a:t>Learning</a:t>
            </a:r>
            <a:endParaRPr sz="2400" dirty="0"/>
          </a:p>
        </p:txBody>
      </p:sp>
      <p:sp>
        <p:nvSpPr>
          <p:cNvPr id="58" name="Google Shape;58;p15"/>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Ultraviolet Comunication System</a:t>
            </a:r>
            <a:endParaRPr dirty="0"/>
          </a:p>
        </p:txBody>
      </p:sp>
      <p:pic>
        <p:nvPicPr>
          <p:cNvPr id="59" name="Google Shape;59;p15"/>
          <p:cNvPicPr preferRelativeResize="0"/>
          <p:nvPr/>
        </p:nvPicPr>
        <p:blipFill rotWithShape="1">
          <a:blip r:embed="rId4">
            <a:alphaModFix/>
          </a:blip>
          <a:srcRect l="25303" r="25298"/>
          <a:stretch/>
        </p:blipFill>
        <p:spPr>
          <a:xfrm>
            <a:off x="767950" y="978400"/>
            <a:ext cx="3049450" cy="3472324"/>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1408922" y="279449"/>
            <a:ext cx="654075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smtClean="0"/>
              <a:t>This Research Was Completed Through The Efforts of:</a:t>
            </a:r>
            <a:endParaRPr sz="3200" dirty="0"/>
          </a:p>
        </p:txBody>
      </p:sp>
      <p:sp>
        <p:nvSpPr>
          <p:cNvPr id="65" name="Google Shape;65;p16"/>
          <p:cNvSpPr txBox="1">
            <a:spLocks noGrp="1"/>
          </p:cNvSpPr>
          <p:nvPr>
            <p:ph type="body" idx="1"/>
          </p:nvPr>
        </p:nvSpPr>
        <p:spPr>
          <a:xfrm>
            <a:off x="2108718" y="1407516"/>
            <a:ext cx="5177552" cy="3022271"/>
          </a:xfrm>
          <a:prstGeom prst="rect">
            <a:avLst/>
          </a:prstGeom>
        </p:spPr>
        <p:txBody>
          <a:bodyPr spcFirstLastPara="1" wrap="square" lIns="91425" tIns="91425" rIns="91425" bIns="91425" anchor="t" anchorCtr="0">
            <a:noAutofit/>
          </a:bodyPr>
          <a:lstStyle/>
          <a:p>
            <a:pPr marL="596900" lvl="1" indent="0" algn="ctr" rtl="0">
              <a:spcBef>
                <a:spcPts val="1000"/>
              </a:spcBef>
              <a:spcAft>
                <a:spcPts val="0"/>
              </a:spcAft>
              <a:buClr>
                <a:schemeClr val="lt2"/>
              </a:buClr>
              <a:buSzPts val="1400"/>
              <a:buNone/>
            </a:pPr>
            <a:r>
              <a:rPr lang="en-US" sz="1600" u="sng" dirty="0" smtClean="0">
                <a:solidFill>
                  <a:schemeClr val="lt2"/>
                </a:solidFill>
              </a:rPr>
              <a:t>An-</a:t>
            </a:r>
            <a:r>
              <a:rPr lang="en-US" sz="1600" u="sng" dirty="0" err="1" smtClean="0">
                <a:solidFill>
                  <a:schemeClr val="lt2"/>
                </a:solidFill>
              </a:rPr>
              <a:t>Najah</a:t>
            </a:r>
            <a:r>
              <a:rPr lang="en-US" sz="1600" u="sng" dirty="0" smtClean="0">
                <a:solidFill>
                  <a:schemeClr val="lt2"/>
                </a:solidFill>
              </a:rPr>
              <a:t> National University</a:t>
            </a:r>
          </a:p>
          <a:p>
            <a:pPr marL="596900" lvl="1" indent="0" algn="ctr" rtl="0">
              <a:spcBef>
                <a:spcPts val="1000"/>
              </a:spcBef>
              <a:spcAft>
                <a:spcPts val="0"/>
              </a:spcAft>
              <a:buClr>
                <a:schemeClr val="lt2"/>
              </a:buClr>
              <a:buSzPts val="1400"/>
              <a:buNone/>
            </a:pPr>
            <a:r>
              <a:rPr lang="en-US" dirty="0" smtClean="0"/>
              <a:t>College of Information Technology &amp; Artificial Intelligence</a:t>
            </a:r>
          </a:p>
          <a:p>
            <a:pPr marL="596900" lvl="1" indent="0" algn="ctr" rtl="0">
              <a:spcBef>
                <a:spcPts val="1000"/>
              </a:spcBef>
              <a:spcAft>
                <a:spcPts val="0"/>
              </a:spcAft>
              <a:buClr>
                <a:schemeClr val="lt2"/>
              </a:buClr>
              <a:buSzPts val="1400"/>
              <a:buNone/>
            </a:pPr>
            <a:r>
              <a:rPr lang="en-US" dirty="0" smtClean="0">
                <a:solidFill>
                  <a:schemeClr val="lt2"/>
                </a:solidFill>
              </a:rPr>
              <a:t>Network Information Security</a:t>
            </a:r>
          </a:p>
          <a:p>
            <a:pPr marL="596900" lvl="1" indent="0" algn="ctr" rtl="0">
              <a:spcBef>
                <a:spcPts val="1000"/>
              </a:spcBef>
              <a:spcAft>
                <a:spcPts val="0"/>
              </a:spcAft>
              <a:buClr>
                <a:schemeClr val="lt2"/>
              </a:buClr>
              <a:buSzPts val="1400"/>
              <a:buNone/>
            </a:pPr>
            <a:r>
              <a:rPr lang="en-US" sz="1600" u="sng" dirty="0" smtClean="0">
                <a:effectLst>
                  <a:outerShdw blurRad="38100" dist="38100" dir="2700000" algn="tl">
                    <a:srgbClr val="000000">
                      <a:alpha val="43137"/>
                    </a:srgbClr>
                  </a:outerShdw>
                </a:effectLst>
              </a:rPr>
              <a:t>Nidal Amira </a:t>
            </a:r>
          </a:p>
          <a:p>
            <a:pPr marL="596900" lvl="1" indent="0" algn="ctr" rtl="0">
              <a:spcBef>
                <a:spcPts val="1000"/>
              </a:spcBef>
              <a:spcAft>
                <a:spcPts val="0"/>
              </a:spcAft>
              <a:buClr>
                <a:schemeClr val="lt2"/>
              </a:buClr>
              <a:buSzPts val="1400"/>
              <a:buNone/>
            </a:pPr>
            <a:r>
              <a:rPr lang="en-US" sz="1600" u="sng" dirty="0" smtClean="0">
                <a:solidFill>
                  <a:schemeClr val="lt2"/>
                </a:solidFill>
                <a:effectLst>
                  <a:outerShdw blurRad="38100" dist="38100" dir="2700000" algn="tl">
                    <a:srgbClr val="000000">
                      <a:alpha val="43137"/>
                    </a:srgbClr>
                  </a:outerShdw>
                </a:effectLst>
              </a:rPr>
              <a:t>12029884</a:t>
            </a:r>
          </a:p>
          <a:p>
            <a:pPr marL="596900" lvl="1" indent="0" algn="ctr" rtl="0">
              <a:spcBef>
                <a:spcPts val="1000"/>
              </a:spcBef>
              <a:spcAft>
                <a:spcPts val="0"/>
              </a:spcAft>
              <a:buClr>
                <a:schemeClr val="lt2"/>
              </a:buClr>
              <a:buSzPts val="1400"/>
              <a:buNone/>
            </a:pPr>
            <a:endParaRPr lang="en-US" dirty="0"/>
          </a:p>
          <a:p>
            <a:pPr marL="596900" lvl="1" indent="0" algn="ctr" rtl="0">
              <a:spcBef>
                <a:spcPts val="1000"/>
              </a:spcBef>
              <a:spcAft>
                <a:spcPts val="0"/>
              </a:spcAft>
              <a:buClr>
                <a:schemeClr val="lt2"/>
              </a:buClr>
              <a:buSzPts val="1400"/>
              <a:buNone/>
            </a:pPr>
            <a:r>
              <a:rPr lang="en-US" sz="1600" u="sng" dirty="0" smtClean="0">
                <a:solidFill>
                  <a:schemeClr val="lt2"/>
                </a:solidFill>
              </a:rPr>
              <a:t>DR.Amjad Hamammreh</a:t>
            </a:r>
          </a:p>
          <a:p>
            <a:pPr marL="596900" lvl="1" indent="0" algn="l" rtl="0">
              <a:spcBef>
                <a:spcPts val="1000"/>
              </a:spcBef>
              <a:spcAft>
                <a:spcPts val="0"/>
              </a:spcAft>
              <a:buClr>
                <a:schemeClr val="lt2"/>
              </a:buClr>
              <a:buSzPts val="1400"/>
              <a:buNone/>
            </a:pPr>
            <a:endParaRPr lang="en-US" dirty="0"/>
          </a:p>
          <a:p>
            <a:pPr marL="596900" lvl="1" indent="0" algn="l" rtl="0">
              <a:spcBef>
                <a:spcPts val="1000"/>
              </a:spcBef>
              <a:spcAft>
                <a:spcPts val="0"/>
              </a:spcAft>
              <a:buClr>
                <a:schemeClr val="lt2"/>
              </a:buClr>
              <a:buSzPts val="1400"/>
              <a:buNone/>
            </a:pPr>
            <a:endParaRPr lang="en-US" dirty="0" smtClean="0">
              <a:solidFill>
                <a:schemeClr val="lt2"/>
              </a:solidFill>
            </a:endParaRPr>
          </a:p>
        </p:txBody>
      </p:sp>
      <p:pic>
        <p:nvPicPr>
          <p:cNvPr id="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25" y="279448"/>
            <a:ext cx="1148135" cy="1148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Research Sections:</a:t>
            </a:r>
            <a:endParaRPr dirty="0"/>
          </a:p>
        </p:txBody>
      </p:sp>
      <p:sp>
        <p:nvSpPr>
          <p:cNvPr id="81" name="Google Shape;81;p17"/>
          <p:cNvSpPr txBox="1"/>
          <p:nvPr/>
        </p:nvSpPr>
        <p:spPr>
          <a:xfrm>
            <a:off x="6847597" y="1638620"/>
            <a:ext cx="2155200" cy="453300"/>
          </a:xfrm>
          <a:prstGeom prst="rect">
            <a:avLst/>
          </a:prstGeom>
          <a:noFill/>
          <a:ln>
            <a:noFill/>
          </a:ln>
        </p:spPr>
        <p:txBody>
          <a:bodyPr spcFirstLastPara="1" wrap="square" lIns="91425" tIns="91425" rIns="91425" bIns="91425" anchor="b" anchorCtr="0">
            <a:noAutofit/>
          </a:bodyPr>
          <a:lstStyle/>
          <a:p>
            <a:pPr lvl="0"/>
            <a:r>
              <a:rPr lang="en-US" sz="2400" b="1" dirty="0">
                <a:solidFill>
                  <a:schemeClr val="lt2"/>
                </a:solidFill>
                <a:latin typeface="Rajdhani"/>
                <a:ea typeface="Rajdhani"/>
                <a:cs typeface="Rajdhani"/>
                <a:sym typeface="Rajdhani"/>
              </a:rPr>
              <a:t>Discussion</a:t>
            </a:r>
            <a:endParaRPr sz="2400" b="1" dirty="0">
              <a:solidFill>
                <a:schemeClr val="lt2"/>
              </a:solidFill>
              <a:latin typeface="Rajdhani"/>
              <a:ea typeface="Rajdhani"/>
              <a:cs typeface="Rajdhani"/>
              <a:sym typeface="Rajdhani"/>
            </a:endParaRPr>
          </a:p>
        </p:txBody>
      </p:sp>
      <p:sp>
        <p:nvSpPr>
          <p:cNvPr id="83" name="Google Shape;83;p17"/>
          <p:cNvSpPr/>
          <p:nvPr/>
        </p:nvSpPr>
        <p:spPr>
          <a:xfrm>
            <a:off x="718457" y="1600789"/>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I</a:t>
            </a:r>
            <a:endParaRPr sz="4000" b="1" dirty="0">
              <a:solidFill>
                <a:schemeClr val="lt2"/>
              </a:solidFill>
              <a:latin typeface="Rajdhani"/>
              <a:ea typeface="Rajdhani"/>
              <a:cs typeface="Rajdhani"/>
              <a:sym typeface="Rajdhani"/>
            </a:endParaRPr>
          </a:p>
        </p:txBody>
      </p:sp>
      <p:sp>
        <p:nvSpPr>
          <p:cNvPr id="19" name="Google Shape;83;p17"/>
          <p:cNvSpPr/>
          <p:nvPr/>
        </p:nvSpPr>
        <p:spPr>
          <a:xfrm>
            <a:off x="718457" y="2633816"/>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R</a:t>
            </a:r>
            <a:endParaRPr sz="4000" b="1" dirty="0">
              <a:solidFill>
                <a:schemeClr val="lt2"/>
              </a:solidFill>
              <a:latin typeface="Rajdhani"/>
              <a:ea typeface="Rajdhani"/>
              <a:cs typeface="Rajdhani"/>
              <a:sym typeface="Rajdhani"/>
            </a:endParaRPr>
          </a:p>
        </p:txBody>
      </p:sp>
      <p:sp>
        <p:nvSpPr>
          <p:cNvPr id="20" name="Google Shape;83;p17"/>
          <p:cNvSpPr/>
          <p:nvPr/>
        </p:nvSpPr>
        <p:spPr>
          <a:xfrm>
            <a:off x="718457" y="3649466"/>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L</a:t>
            </a:r>
            <a:endParaRPr sz="4000" b="1" dirty="0">
              <a:solidFill>
                <a:schemeClr val="lt2"/>
              </a:solidFill>
              <a:latin typeface="Rajdhani"/>
              <a:ea typeface="Rajdhani"/>
              <a:cs typeface="Rajdhani"/>
              <a:sym typeface="Rajdhani"/>
            </a:endParaRPr>
          </a:p>
        </p:txBody>
      </p:sp>
      <p:sp>
        <p:nvSpPr>
          <p:cNvPr id="21" name="Google Shape;83;p17"/>
          <p:cNvSpPr/>
          <p:nvPr/>
        </p:nvSpPr>
        <p:spPr>
          <a:xfrm>
            <a:off x="3413459" y="1576386"/>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I</a:t>
            </a:r>
            <a:endParaRPr sz="4000" b="1" dirty="0">
              <a:solidFill>
                <a:schemeClr val="lt2"/>
              </a:solidFill>
              <a:latin typeface="Rajdhani"/>
              <a:ea typeface="Rajdhani"/>
              <a:cs typeface="Rajdhani"/>
              <a:sym typeface="Rajdhani"/>
            </a:endParaRPr>
          </a:p>
        </p:txBody>
      </p:sp>
      <p:sp>
        <p:nvSpPr>
          <p:cNvPr id="22" name="Google Shape;83;p17"/>
          <p:cNvSpPr/>
          <p:nvPr/>
        </p:nvSpPr>
        <p:spPr>
          <a:xfrm>
            <a:off x="3413459" y="2609413"/>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M</a:t>
            </a:r>
            <a:endParaRPr sz="4000" b="1" dirty="0">
              <a:solidFill>
                <a:schemeClr val="lt2"/>
              </a:solidFill>
              <a:latin typeface="Rajdhani"/>
              <a:ea typeface="Rajdhani"/>
              <a:cs typeface="Rajdhani"/>
              <a:sym typeface="Rajdhani"/>
            </a:endParaRPr>
          </a:p>
        </p:txBody>
      </p:sp>
      <p:sp>
        <p:nvSpPr>
          <p:cNvPr id="23" name="Google Shape;83;p17"/>
          <p:cNvSpPr/>
          <p:nvPr/>
        </p:nvSpPr>
        <p:spPr>
          <a:xfrm>
            <a:off x="3413459" y="3625063"/>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T</a:t>
            </a:r>
            <a:endParaRPr sz="4000" b="1" dirty="0">
              <a:solidFill>
                <a:schemeClr val="lt2"/>
              </a:solidFill>
              <a:latin typeface="Rajdhani"/>
              <a:ea typeface="Rajdhani"/>
              <a:cs typeface="Rajdhani"/>
              <a:sym typeface="Rajdhani"/>
            </a:endParaRPr>
          </a:p>
        </p:txBody>
      </p:sp>
      <p:sp>
        <p:nvSpPr>
          <p:cNvPr id="24" name="Google Shape;83;p17"/>
          <p:cNvSpPr/>
          <p:nvPr/>
        </p:nvSpPr>
        <p:spPr>
          <a:xfrm>
            <a:off x="6078497" y="1576386"/>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D</a:t>
            </a:r>
            <a:endParaRPr sz="4000" b="1" dirty="0">
              <a:solidFill>
                <a:schemeClr val="lt2"/>
              </a:solidFill>
              <a:latin typeface="Rajdhani"/>
              <a:ea typeface="Rajdhani"/>
              <a:cs typeface="Rajdhani"/>
              <a:sym typeface="Rajdhani"/>
            </a:endParaRPr>
          </a:p>
        </p:txBody>
      </p:sp>
      <p:sp>
        <p:nvSpPr>
          <p:cNvPr id="25" name="Google Shape;83;p17"/>
          <p:cNvSpPr/>
          <p:nvPr/>
        </p:nvSpPr>
        <p:spPr>
          <a:xfrm>
            <a:off x="6078497" y="2609413"/>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R</a:t>
            </a:r>
            <a:endParaRPr sz="4000" b="1" dirty="0">
              <a:solidFill>
                <a:schemeClr val="lt2"/>
              </a:solidFill>
              <a:latin typeface="Rajdhani"/>
              <a:ea typeface="Rajdhani"/>
              <a:cs typeface="Rajdhani"/>
              <a:sym typeface="Rajdhani"/>
            </a:endParaRPr>
          </a:p>
        </p:txBody>
      </p:sp>
      <p:sp>
        <p:nvSpPr>
          <p:cNvPr id="26" name="Google Shape;83;p17"/>
          <p:cNvSpPr/>
          <p:nvPr/>
        </p:nvSpPr>
        <p:spPr>
          <a:xfrm>
            <a:off x="6078497" y="3625063"/>
            <a:ext cx="614490" cy="528962"/>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dirty="0" smtClean="0">
                <a:solidFill>
                  <a:schemeClr val="lt2"/>
                </a:solidFill>
                <a:latin typeface="Rajdhani"/>
                <a:ea typeface="Rajdhani"/>
                <a:cs typeface="Rajdhani"/>
                <a:sym typeface="Rajdhani"/>
              </a:rPr>
              <a:t>C</a:t>
            </a:r>
            <a:endParaRPr sz="4000" b="1" dirty="0">
              <a:solidFill>
                <a:schemeClr val="lt2"/>
              </a:solidFill>
              <a:latin typeface="Rajdhani"/>
              <a:ea typeface="Rajdhani"/>
              <a:cs typeface="Rajdhani"/>
              <a:sym typeface="Rajdhani"/>
            </a:endParaRPr>
          </a:p>
        </p:txBody>
      </p:sp>
      <p:sp>
        <p:nvSpPr>
          <p:cNvPr id="27" name="Google Shape;81;p17"/>
          <p:cNvSpPr txBox="1"/>
          <p:nvPr/>
        </p:nvSpPr>
        <p:spPr>
          <a:xfrm>
            <a:off x="1460187" y="1676451"/>
            <a:ext cx="2155200" cy="453300"/>
          </a:xfrm>
          <a:prstGeom prst="rect">
            <a:avLst/>
          </a:prstGeom>
          <a:noFill/>
          <a:ln>
            <a:noFill/>
          </a:ln>
        </p:spPr>
        <p:txBody>
          <a:bodyPr spcFirstLastPara="1" wrap="square" lIns="91425" tIns="91425" rIns="91425" bIns="91425" anchor="b" anchorCtr="0">
            <a:noAutofit/>
          </a:bodyPr>
          <a:lstStyle/>
          <a:p>
            <a:pPr lvl="0"/>
            <a:r>
              <a:rPr lang="en-US" sz="2400" b="1" dirty="0">
                <a:solidFill>
                  <a:schemeClr val="lt2"/>
                </a:solidFill>
                <a:latin typeface="Rajdhani"/>
                <a:ea typeface="Rajdhani"/>
                <a:cs typeface="Rajdhani"/>
                <a:sym typeface="Rajdhani"/>
              </a:rPr>
              <a:t>Introduction</a:t>
            </a:r>
            <a:endParaRPr sz="2400" b="1" dirty="0">
              <a:solidFill>
                <a:schemeClr val="lt2"/>
              </a:solidFill>
              <a:latin typeface="Rajdhani"/>
              <a:ea typeface="Rajdhani"/>
              <a:cs typeface="Rajdhani"/>
              <a:sym typeface="Rajdhani"/>
            </a:endParaRPr>
          </a:p>
        </p:txBody>
      </p:sp>
      <p:sp>
        <p:nvSpPr>
          <p:cNvPr id="28" name="Google Shape;81;p17"/>
          <p:cNvSpPr txBox="1"/>
          <p:nvPr/>
        </p:nvSpPr>
        <p:spPr>
          <a:xfrm>
            <a:off x="1460187" y="3003199"/>
            <a:ext cx="2155200" cy="453300"/>
          </a:xfrm>
          <a:prstGeom prst="rect">
            <a:avLst/>
          </a:prstGeom>
          <a:noFill/>
          <a:ln>
            <a:noFill/>
          </a:ln>
        </p:spPr>
        <p:txBody>
          <a:bodyPr spcFirstLastPara="1" wrap="square" lIns="91425" tIns="91425" rIns="91425" bIns="91425" anchor="b" anchorCtr="0">
            <a:noAutofit/>
          </a:bodyPr>
          <a:lstStyle/>
          <a:p>
            <a:pPr lvl="0"/>
            <a:r>
              <a:rPr lang="en-US" sz="2400" b="1" dirty="0">
                <a:solidFill>
                  <a:schemeClr val="lt2"/>
                </a:solidFill>
                <a:latin typeface="Rajdhani"/>
                <a:ea typeface="Rajdhani"/>
                <a:cs typeface="Rajdhani"/>
                <a:sym typeface="Rajdhani"/>
              </a:rPr>
              <a:t>Research Questions</a:t>
            </a:r>
            <a:endParaRPr sz="2400" b="1" dirty="0">
              <a:solidFill>
                <a:schemeClr val="lt2"/>
              </a:solidFill>
              <a:latin typeface="Rajdhani"/>
              <a:ea typeface="Rajdhani"/>
              <a:cs typeface="Rajdhani"/>
              <a:sym typeface="Rajdhani"/>
            </a:endParaRPr>
          </a:p>
        </p:txBody>
      </p:sp>
      <p:sp>
        <p:nvSpPr>
          <p:cNvPr id="29" name="Google Shape;81;p17"/>
          <p:cNvSpPr txBox="1"/>
          <p:nvPr/>
        </p:nvSpPr>
        <p:spPr>
          <a:xfrm>
            <a:off x="1460187" y="4053793"/>
            <a:ext cx="2155200" cy="453300"/>
          </a:xfrm>
          <a:prstGeom prst="rect">
            <a:avLst/>
          </a:prstGeom>
          <a:noFill/>
          <a:ln>
            <a:noFill/>
          </a:ln>
        </p:spPr>
        <p:txBody>
          <a:bodyPr spcFirstLastPara="1" wrap="square" lIns="91425" tIns="91425" rIns="91425" bIns="91425" anchor="b" anchorCtr="0">
            <a:noAutofit/>
          </a:bodyPr>
          <a:lstStyle/>
          <a:p>
            <a:pPr lvl="0"/>
            <a:r>
              <a:rPr lang="en-US" sz="2400" b="1" dirty="0">
                <a:solidFill>
                  <a:schemeClr val="lt2"/>
                </a:solidFill>
                <a:latin typeface="Rajdhani"/>
                <a:ea typeface="Rajdhani"/>
                <a:cs typeface="Rajdhani"/>
                <a:sym typeface="Rajdhani"/>
              </a:rPr>
              <a:t>Literature Review</a:t>
            </a:r>
            <a:endParaRPr sz="2400" b="1" dirty="0">
              <a:solidFill>
                <a:schemeClr val="lt2"/>
              </a:solidFill>
              <a:latin typeface="Rajdhani"/>
              <a:ea typeface="Rajdhani"/>
              <a:cs typeface="Rajdhani"/>
              <a:sym typeface="Rajdhani"/>
            </a:endParaRPr>
          </a:p>
        </p:txBody>
      </p:sp>
      <p:sp>
        <p:nvSpPr>
          <p:cNvPr id="30" name="Google Shape;81;p17"/>
          <p:cNvSpPr txBox="1"/>
          <p:nvPr/>
        </p:nvSpPr>
        <p:spPr>
          <a:xfrm>
            <a:off x="6847597" y="2671647"/>
            <a:ext cx="2155200" cy="453300"/>
          </a:xfrm>
          <a:prstGeom prst="rect">
            <a:avLst/>
          </a:prstGeom>
          <a:noFill/>
          <a:ln>
            <a:noFill/>
          </a:ln>
        </p:spPr>
        <p:txBody>
          <a:bodyPr spcFirstLastPara="1" wrap="square" lIns="91425" tIns="91425" rIns="91425" bIns="91425" anchor="b" anchorCtr="0">
            <a:noAutofit/>
          </a:bodyPr>
          <a:lstStyle/>
          <a:p>
            <a:pPr lvl="0"/>
            <a:r>
              <a:rPr lang="en-US" sz="2000" b="1" dirty="0">
                <a:solidFill>
                  <a:schemeClr val="lt2"/>
                </a:solidFill>
                <a:latin typeface="Rajdhani"/>
                <a:ea typeface="Rajdhani"/>
                <a:cs typeface="Rajdhani"/>
                <a:sym typeface="Rajdhani"/>
              </a:rPr>
              <a:t>Recommendations</a:t>
            </a:r>
            <a:endParaRPr sz="2000" b="1" dirty="0">
              <a:solidFill>
                <a:schemeClr val="lt2"/>
              </a:solidFill>
              <a:latin typeface="Rajdhani"/>
              <a:ea typeface="Rajdhani"/>
              <a:cs typeface="Rajdhani"/>
              <a:sym typeface="Rajdhani"/>
            </a:endParaRPr>
          </a:p>
        </p:txBody>
      </p:sp>
      <p:sp>
        <p:nvSpPr>
          <p:cNvPr id="31" name="Google Shape;81;p17"/>
          <p:cNvSpPr txBox="1"/>
          <p:nvPr/>
        </p:nvSpPr>
        <p:spPr>
          <a:xfrm>
            <a:off x="6847597" y="3687297"/>
            <a:ext cx="2155200" cy="453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smtClean="0">
                <a:solidFill>
                  <a:schemeClr val="lt2"/>
                </a:solidFill>
                <a:latin typeface="Rajdhani"/>
                <a:ea typeface="Rajdhani"/>
                <a:cs typeface="Rajdhani"/>
                <a:sym typeface="Rajdhani"/>
              </a:rPr>
              <a:t>Conclusion</a:t>
            </a:r>
            <a:endParaRPr sz="2400" b="1" dirty="0">
              <a:solidFill>
                <a:schemeClr val="lt2"/>
              </a:solidFill>
              <a:latin typeface="Rajdhani"/>
              <a:ea typeface="Rajdhani"/>
              <a:cs typeface="Rajdhani"/>
              <a:sym typeface="Rajdhani"/>
            </a:endParaRPr>
          </a:p>
        </p:txBody>
      </p:sp>
      <p:sp>
        <p:nvSpPr>
          <p:cNvPr id="32" name="Google Shape;81;p17"/>
          <p:cNvSpPr txBox="1"/>
          <p:nvPr/>
        </p:nvSpPr>
        <p:spPr>
          <a:xfrm>
            <a:off x="4027949" y="4051400"/>
            <a:ext cx="2155200" cy="453300"/>
          </a:xfrm>
          <a:prstGeom prst="rect">
            <a:avLst/>
          </a:prstGeom>
          <a:noFill/>
          <a:ln>
            <a:noFill/>
          </a:ln>
        </p:spPr>
        <p:txBody>
          <a:bodyPr spcFirstLastPara="1" wrap="square" lIns="91425" tIns="91425" rIns="91425" bIns="91425" anchor="b" anchorCtr="0">
            <a:noAutofit/>
          </a:bodyPr>
          <a:lstStyle/>
          <a:p>
            <a:pPr lvl="0"/>
            <a:r>
              <a:rPr lang="en-US" sz="2400" b="1" dirty="0" smtClean="0">
                <a:solidFill>
                  <a:schemeClr val="lt2"/>
                </a:solidFill>
                <a:latin typeface="Rajdhani"/>
                <a:ea typeface="Rajdhani"/>
                <a:cs typeface="Rajdhani"/>
                <a:sym typeface="Rajdhani"/>
              </a:rPr>
              <a:t>Transition </a:t>
            </a:r>
            <a:r>
              <a:rPr lang="en-US" sz="2400" b="1" dirty="0">
                <a:solidFill>
                  <a:schemeClr val="lt2"/>
                </a:solidFill>
                <a:latin typeface="Rajdhani"/>
                <a:ea typeface="Rajdhani"/>
                <a:cs typeface="Rajdhani"/>
                <a:sym typeface="Rajdhani"/>
              </a:rPr>
              <a:t>to Simulation</a:t>
            </a:r>
            <a:endParaRPr sz="2400" b="1" dirty="0">
              <a:solidFill>
                <a:schemeClr val="lt2"/>
              </a:solidFill>
              <a:latin typeface="Rajdhani"/>
              <a:ea typeface="Rajdhani"/>
              <a:cs typeface="Rajdhani"/>
              <a:sym typeface="Rajdhani"/>
            </a:endParaRPr>
          </a:p>
        </p:txBody>
      </p:sp>
      <p:sp>
        <p:nvSpPr>
          <p:cNvPr id="33" name="Google Shape;81;p17"/>
          <p:cNvSpPr txBox="1"/>
          <p:nvPr/>
        </p:nvSpPr>
        <p:spPr>
          <a:xfrm>
            <a:off x="4132753" y="2671647"/>
            <a:ext cx="2155200" cy="453300"/>
          </a:xfrm>
          <a:prstGeom prst="rect">
            <a:avLst/>
          </a:prstGeom>
          <a:noFill/>
          <a:ln>
            <a:noFill/>
          </a:ln>
        </p:spPr>
        <p:txBody>
          <a:bodyPr spcFirstLastPara="1" wrap="square" lIns="91425" tIns="91425" rIns="91425" bIns="91425" anchor="b" anchorCtr="0">
            <a:noAutofit/>
          </a:bodyPr>
          <a:lstStyle/>
          <a:p>
            <a:pPr lvl="0"/>
            <a:r>
              <a:rPr lang="en-US" sz="2400" b="1" dirty="0">
                <a:solidFill>
                  <a:schemeClr val="lt2"/>
                </a:solidFill>
                <a:latin typeface="Rajdhani"/>
                <a:ea typeface="Rajdhani"/>
                <a:cs typeface="Rajdhani"/>
                <a:sym typeface="Rajdhani"/>
              </a:rPr>
              <a:t>Methodology</a:t>
            </a:r>
            <a:endParaRPr sz="2400" b="1" dirty="0">
              <a:solidFill>
                <a:schemeClr val="lt2"/>
              </a:solidFill>
              <a:latin typeface="Rajdhani"/>
              <a:ea typeface="Rajdhani"/>
              <a:cs typeface="Rajdhani"/>
              <a:sym typeface="Rajdhani"/>
            </a:endParaRPr>
          </a:p>
        </p:txBody>
      </p:sp>
      <p:sp>
        <p:nvSpPr>
          <p:cNvPr id="34" name="Google Shape;81;p17"/>
          <p:cNvSpPr txBox="1"/>
          <p:nvPr/>
        </p:nvSpPr>
        <p:spPr>
          <a:xfrm>
            <a:off x="4132753" y="1903101"/>
            <a:ext cx="2155200" cy="453300"/>
          </a:xfrm>
          <a:prstGeom prst="rect">
            <a:avLst/>
          </a:prstGeom>
          <a:noFill/>
          <a:ln>
            <a:noFill/>
          </a:ln>
        </p:spPr>
        <p:txBody>
          <a:bodyPr spcFirstLastPara="1" wrap="square" lIns="91425" tIns="91425" rIns="91425" bIns="91425" anchor="b" anchorCtr="0">
            <a:noAutofit/>
          </a:bodyPr>
          <a:lstStyle/>
          <a:p>
            <a:pPr lvl="0"/>
            <a:r>
              <a:rPr lang="en-US" sz="2400" b="1" dirty="0" smtClean="0">
                <a:solidFill>
                  <a:schemeClr val="lt2"/>
                </a:solidFill>
                <a:latin typeface="Rajdhani"/>
                <a:ea typeface="Rajdhani"/>
                <a:cs typeface="Rajdhani"/>
                <a:sym typeface="Rajdhani"/>
              </a:rPr>
              <a:t>Integration System</a:t>
            </a:r>
            <a:endParaRPr sz="2400" b="1" dirty="0">
              <a:solidFill>
                <a:schemeClr val="lt2"/>
              </a:solidFill>
              <a:latin typeface="Rajdhani"/>
              <a:ea typeface="Rajdhani"/>
              <a:cs typeface="Rajdhani"/>
              <a:sym typeface="Rajdhan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The rapid growth of data traffic in modern telecommunications, driven by the expansion of devices and services, has created a need for intelligent network systems based on data analysis and adaptive technologies. Ultraviolet communication (UVC), a form of electromagnetic communication operating within wavelengths of 40–400 nm, has emerged as a promising alternative due to its high data transmission rates and strong security features. However, despite its potential, UVC systems still face several challenges and have not yet been fully integrated with advances in artificial intelligence, motivating further research into applying machine learning to enhance their performance.</a:t>
            </a:r>
          </a:p>
          <a:p>
            <a:pPr marL="139700" lvl="0" indent="0">
              <a:buClr>
                <a:schemeClr val="lt2"/>
              </a:buClr>
              <a:buNone/>
            </a:pPr>
            <a:endParaRPr lang="en-US" dirty="0">
              <a:solidFill>
                <a:schemeClr val="lt2"/>
              </a:solidFill>
            </a:endParaRPr>
          </a:p>
          <a:p>
            <a:pPr marL="139700" lvl="0" indent="0">
              <a:buClr>
                <a:schemeClr val="lt2"/>
              </a:buClr>
              <a:buNone/>
            </a:pPr>
            <a:endParaRPr dirty="0">
              <a:solidFill>
                <a:schemeClr val="lt2"/>
              </a:solidFill>
            </a:endParaRPr>
          </a:p>
        </p:txBody>
      </p:sp>
    </p:spTree>
    <p:extLst>
      <p:ext uri="{BB962C8B-B14F-4D97-AF65-F5344CB8AC3E}">
        <p14:creationId xmlns:p14="http://schemas.microsoft.com/office/powerpoint/2010/main" val="37717618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Literature Review</a:t>
            </a:r>
            <a:endParaRPr dirty="0"/>
          </a:p>
        </p:txBody>
      </p:sp>
      <p:sp>
        <p:nvSpPr>
          <p:cNvPr id="93" name="Google Shape;93;p18"/>
          <p:cNvSpPr/>
          <p:nvPr/>
        </p:nvSpPr>
        <p:spPr>
          <a:xfrm>
            <a:off x="15947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8"/>
          <p:cNvSpPr/>
          <p:nvPr/>
        </p:nvSpPr>
        <p:spPr>
          <a:xfrm>
            <a:off x="3537346"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p:nvPr/>
        </p:nvSpPr>
        <p:spPr>
          <a:xfrm>
            <a:off x="5479979"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a:off x="74226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7" name="Google Shape;97;p18"/>
          <p:cNvCxnSpPr>
            <a:stCxn id="93" idx="6"/>
            <a:endCxn id="94" idx="2"/>
          </p:cNvCxnSpPr>
          <p:nvPr/>
        </p:nvCxnSpPr>
        <p:spPr>
          <a:xfrm>
            <a:off x="1721612"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8" name="Google Shape;98;p18"/>
          <p:cNvCxnSpPr>
            <a:stCxn id="94" idx="6"/>
            <a:endCxn id="95" idx="2"/>
          </p:cNvCxnSpPr>
          <p:nvPr/>
        </p:nvCxnSpPr>
        <p:spPr>
          <a:xfrm>
            <a:off x="3664246"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9" name="Google Shape;99;p18"/>
          <p:cNvCxnSpPr>
            <a:stCxn id="95" idx="6"/>
            <a:endCxn id="96" idx="2"/>
          </p:cNvCxnSpPr>
          <p:nvPr/>
        </p:nvCxnSpPr>
        <p:spPr>
          <a:xfrm>
            <a:off x="5606879"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100" name="Google Shape;100;p18"/>
          <p:cNvCxnSpPr>
            <a:stCxn id="93" idx="4"/>
            <a:endCxn id="101" idx="0"/>
          </p:cNvCxnSpPr>
          <p:nvPr/>
        </p:nvCxnSpPr>
        <p:spPr>
          <a:xfrm>
            <a:off x="1658162"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2" name="Google Shape;102;p18"/>
          <p:cNvCxnSpPr>
            <a:stCxn id="94" idx="4"/>
            <a:endCxn id="103" idx="0"/>
          </p:cNvCxnSpPr>
          <p:nvPr/>
        </p:nvCxnSpPr>
        <p:spPr>
          <a:xfrm>
            <a:off x="3600796"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4" name="Google Shape;104;p18"/>
          <p:cNvCxnSpPr>
            <a:stCxn id="95" idx="4"/>
            <a:endCxn id="105" idx="0"/>
          </p:cNvCxnSpPr>
          <p:nvPr/>
        </p:nvCxnSpPr>
        <p:spPr>
          <a:xfrm>
            <a:off x="5543429"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6" name="Google Shape;106;p18"/>
          <p:cNvCxnSpPr>
            <a:stCxn id="96" idx="4"/>
            <a:endCxn id="107" idx="0"/>
          </p:cNvCxnSpPr>
          <p:nvPr/>
        </p:nvCxnSpPr>
        <p:spPr>
          <a:xfrm>
            <a:off x="7486062" y="2691597"/>
            <a:ext cx="0" cy="323700"/>
          </a:xfrm>
          <a:prstGeom prst="straightConnector1">
            <a:avLst/>
          </a:prstGeom>
          <a:noFill/>
          <a:ln w="19050" cap="flat" cmpd="sng">
            <a:solidFill>
              <a:schemeClr val="lt2"/>
            </a:solidFill>
            <a:prstDash val="solid"/>
            <a:round/>
            <a:headEnd type="none" w="med" len="med"/>
            <a:tailEnd type="none" w="med" len="med"/>
          </a:ln>
        </p:spPr>
      </p:cxnSp>
      <p:sp>
        <p:nvSpPr>
          <p:cNvPr id="108" name="Google Shape;108;p18"/>
          <p:cNvSpPr/>
          <p:nvPr/>
        </p:nvSpPr>
        <p:spPr>
          <a:xfrm>
            <a:off x="1479306" y="4073116"/>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18"/>
          <p:cNvGrpSpPr/>
          <p:nvPr/>
        </p:nvGrpSpPr>
        <p:grpSpPr>
          <a:xfrm>
            <a:off x="7300109" y="4068368"/>
            <a:ext cx="371883" cy="365691"/>
            <a:chOff x="860940" y="2746477"/>
            <a:chExt cx="371883" cy="365691"/>
          </a:xfrm>
        </p:grpSpPr>
        <p:sp>
          <p:nvSpPr>
            <p:cNvPr id="110" name="Google Shape;110;p18"/>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8"/>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8"/>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8"/>
          <p:cNvSpPr/>
          <p:nvPr/>
        </p:nvSpPr>
        <p:spPr>
          <a:xfrm>
            <a:off x="5365319" y="4073116"/>
            <a:ext cx="356196" cy="328410"/>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 name="Google Shape;116;p18"/>
          <p:cNvGrpSpPr/>
          <p:nvPr/>
        </p:nvGrpSpPr>
        <p:grpSpPr>
          <a:xfrm>
            <a:off x="3413429" y="4073116"/>
            <a:ext cx="374709" cy="374010"/>
            <a:chOff x="1421638" y="4125629"/>
            <a:chExt cx="374709" cy="374010"/>
          </a:xfrm>
        </p:grpSpPr>
        <p:sp>
          <p:nvSpPr>
            <p:cNvPr id="117" name="Google Shape;117;p18"/>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8"/>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18"/>
          <p:cNvGrpSpPr/>
          <p:nvPr/>
        </p:nvGrpSpPr>
        <p:grpSpPr>
          <a:xfrm>
            <a:off x="716600" y="1790299"/>
            <a:ext cx="1883100" cy="2086651"/>
            <a:chOff x="716600" y="1790299"/>
            <a:chExt cx="1883100" cy="2086651"/>
          </a:xfrm>
        </p:grpSpPr>
        <p:sp>
          <p:nvSpPr>
            <p:cNvPr id="101" name="Google Shape;101;p18"/>
            <p:cNvSpPr txBox="1"/>
            <p:nvPr/>
          </p:nvSpPr>
          <p:spPr>
            <a:xfrm>
              <a:off x="716600" y="3015422"/>
              <a:ext cx="1883100" cy="457200"/>
            </a:xfrm>
            <a:prstGeom prst="rect">
              <a:avLst/>
            </a:prstGeom>
            <a:noFill/>
            <a:ln>
              <a:noFill/>
            </a:ln>
          </p:spPr>
          <p:txBody>
            <a:bodyPr spcFirstLastPara="1" wrap="square" lIns="91425" tIns="91425" rIns="91425" bIns="91425" anchor="ctr" anchorCtr="0">
              <a:noAutofit/>
            </a:bodyPr>
            <a:lstStyle/>
            <a:p>
              <a:pPr lvl="0" algn="ctr"/>
              <a:r>
                <a:rPr lang="en-US" sz="2400" b="1" dirty="0">
                  <a:solidFill>
                    <a:schemeClr val="lt2"/>
                  </a:solidFill>
                  <a:latin typeface="Rajdhani"/>
                  <a:ea typeface="Rajdhani"/>
                  <a:cs typeface="Rajdhani"/>
                  <a:sym typeface="Rajdhani"/>
                </a:rPr>
                <a:t>1920s–1960s</a:t>
              </a:r>
              <a:endParaRPr sz="2400" b="1" dirty="0">
                <a:solidFill>
                  <a:schemeClr val="lt2"/>
                </a:solidFill>
                <a:latin typeface="Rajdhani"/>
                <a:ea typeface="Rajdhani"/>
                <a:cs typeface="Rajdhani"/>
                <a:sym typeface="Rajdhani"/>
              </a:endParaRPr>
            </a:p>
          </p:txBody>
        </p:sp>
        <p:sp>
          <p:nvSpPr>
            <p:cNvPr id="120" name="Google Shape;120;p18"/>
            <p:cNvSpPr txBox="1"/>
            <p:nvPr/>
          </p:nvSpPr>
          <p:spPr>
            <a:xfrm>
              <a:off x="716600" y="3328250"/>
              <a:ext cx="1883100" cy="5487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Early Foundations of UVC Systems</a:t>
              </a:r>
              <a:endParaRPr dirty="0">
                <a:solidFill>
                  <a:schemeClr val="lt2"/>
                </a:solidFill>
                <a:latin typeface="Fira Sans Condensed"/>
                <a:ea typeface="Fira Sans Condensed"/>
                <a:cs typeface="Fira Sans Condensed"/>
                <a:sym typeface="Fira Sans Condensed"/>
              </a:endParaRPr>
            </a:p>
          </p:txBody>
        </p:sp>
        <p:sp>
          <p:nvSpPr>
            <p:cNvPr id="121" name="Google Shape;121;p18"/>
            <p:cNvSpPr txBox="1"/>
            <p:nvPr/>
          </p:nvSpPr>
          <p:spPr>
            <a:xfrm>
              <a:off x="716600" y="1790299"/>
              <a:ext cx="1883100" cy="457200"/>
            </a:xfrm>
            <a:prstGeom prst="rect">
              <a:avLst/>
            </a:prstGeom>
            <a:noFill/>
            <a:ln>
              <a:noFill/>
            </a:ln>
          </p:spPr>
          <p:txBody>
            <a:bodyPr spcFirstLastPara="1" wrap="square" lIns="91425" tIns="91425" rIns="91425" bIns="91425" anchor="b" anchorCtr="0">
              <a:noAutofit/>
            </a:bodyPr>
            <a:lstStyle/>
            <a:p>
              <a:pPr lvl="0" algn="ctr"/>
              <a:r>
                <a:rPr lang="en-US" sz="2000" b="1" dirty="0">
                  <a:solidFill>
                    <a:schemeClr val="lt2"/>
                  </a:solidFill>
                  <a:latin typeface="Rajdhani"/>
                  <a:ea typeface="Rajdhani"/>
                  <a:cs typeface="Rajdhani"/>
                  <a:sym typeface="Rajdhani"/>
                </a:rPr>
                <a:t>Foundations</a:t>
              </a:r>
              <a:endParaRPr sz="2000" b="1" dirty="0">
                <a:solidFill>
                  <a:schemeClr val="lt2"/>
                </a:solidFill>
                <a:latin typeface="Rajdhani"/>
                <a:ea typeface="Rajdhani"/>
                <a:cs typeface="Rajdhani"/>
                <a:sym typeface="Rajdhani"/>
              </a:endParaRPr>
            </a:p>
          </p:txBody>
        </p:sp>
      </p:grpSp>
      <p:grpSp>
        <p:nvGrpSpPr>
          <p:cNvPr id="122" name="Google Shape;122;p18"/>
          <p:cNvGrpSpPr/>
          <p:nvPr/>
        </p:nvGrpSpPr>
        <p:grpSpPr>
          <a:xfrm>
            <a:off x="2659233" y="1790299"/>
            <a:ext cx="1883100" cy="2086651"/>
            <a:chOff x="2659233" y="1790299"/>
            <a:chExt cx="1883100" cy="2086651"/>
          </a:xfrm>
        </p:grpSpPr>
        <p:sp>
          <p:nvSpPr>
            <p:cNvPr id="103" name="Google Shape;103;p18"/>
            <p:cNvSpPr txBox="1"/>
            <p:nvPr/>
          </p:nvSpPr>
          <p:spPr>
            <a:xfrm>
              <a:off x="2659233" y="3015422"/>
              <a:ext cx="1883100" cy="457200"/>
            </a:xfrm>
            <a:prstGeom prst="rect">
              <a:avLst/>
            </a:prstGeom>
            <a:noFill/>
            <a:ln>
              <a:noFill/>
            </a:ln>
          </p:spPr>
          <p:txBody>
            <a:bodyPr spcFirstLastPara="1" wrap="square" lIns="91425" tIns="91425" rIns="91425" bIns="91425" anchor="ctr" anchorCtr="0">
              <a:noAutofit/>
            </a:bodyPr>
            <a:lstStyle/>
            <a:p>
              <a:pPr lvl="0" algn="ctr"/>
              <a:r>
                <a:rPr lang="en-US" sz="2400" b="1" dirty="0">
                  <a:solidFill>
                    <a:schemeClr val="lt2"/>
                  </a:solidFill>
                  <a:latin typeface="Rajdhani"/>
                  <a:ea typeface="Rajdhani"/>
                  <a:cs typeface="Rajdhani"/>
                  <a:sym typeface="Rajdhani"/>
                </a:rPr>
                <a:t>1960s–1990s</a:t>
              </a:r>
              <a:endParaRPr sz="2400" b="1" dirty="0">
                <a:solidFill>
                  <a:schemeClr val="lt2"/>
                </a:solidFill>
                <a:latin typeface="Rajdhani"/>
                <a:ea typeface="Rajdhani"/>
                <a:cs typeface="Rajdhani"/>
                <a:sym typeface="Rajdhani"/>
              </a:endParaRPr>
            </a:p>
          </p:txBody>
        </p:sp>
        <p:sp>
          <p:nvSpPr>
            <p:cNvPr id="123" name="Google Shape;123;p18"/>
            <p:cNvSpPr txBox="1"/>
            <p:nvPr/>
          </p:nvSpPr>
          <p:spPr>
            <a:xfrm>
              <a:off x="2659233" y="3328250"/>
              <a:ext cx="1883100" cy="5487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Theoretical Models and Experimental Development</a:t>
              </a:r>
              <a:endParaRPr dirty="0">
                <a:solidFill>
                  <a:schemeClr val="lt2"/>
                </a:solidFill>
                <a:latin typeface="Fira Sans Condensed"/>
                <a:ea typeface="Fira Sans Condensed"/>
                <a:cs typeface="Fira Sans Condensed"/>
                <a:sym typeface="Fira Sans Condensed"/>
              </a:endParaRPr>
            </a:p>
          </p:txBody>
        </p:sp>
        <p:sp>
          <p:nvSpPr>
            <p:cNvPr id="124" name="Google Shape;124;p18"/>
            <p:cNvSpPr txBox="1"/>
            <p:nvPr/>
          </p:nvSpPr>
          <p:spPr>
            <a:xfrm>
              <a:off x="2659233" y="1790299"/>
              <a:ext cx="1883100" cy="457200"/>
            </a:xfrm>
            <a:prstGeom prst="rect">
              <a:avLst/>
            </a:prstGeom>
            <a:noFill/>
            <a:ln>
              <a:noFill/>
            </a:ln>
          </p:spPr>
          <p:txBody>
            <a:bodyPr spcFirstLastPara="1" wrap="square" lIns="91425" tIns="91425" rIns="91425" bIns="91425" anchor="b" anchorCtr="0">
              <a:noAutofit/>
            </a:bodyPr>
            <a:lstStyle/>
            <a:p>
              <a:pPr lvl="0" algn="ctr"/>
              <a:r>
                <a:rPr lang="en-US" sz="2000" b="1" dirty="0">
                  <a:solidFill>
                    <a:schemeClr val="lt2"/>
                  </a:solidFill>
                  <a:latin typeface="Rajdhani"/>
                  <a:ea typeface="Rajdhani"/>
                  <a:cs typeface="Rajdhani"/>
                  <a:sym typeface="Rajdhani"/>
                </a:rPr>
                <a:t>Development</a:t>
              </a:r>
              <a:endParaRPr sz="2000" b="1" dirty="0">
                <a:solidFill>
                  <a:schemeClr val="lt2"/>
                </a:solidFill>
                <a:latin typeface="Rajdhani"/>
                <a:ea typeface="Rajdhani"/>
                <a:cs typeface="Rajdhani"/>
                <a:sym typeface="Rajdhani"/>
              </a:endParaRPr>
            </a:p>
          </p:txBody>
        </p:sp>
      </p:grpSp>
      <p:grpSp>
        <p:nvGrpSpPr>
          <p:cNvPr id="125" name="Google Shape;125;p18"/>
          <p:cNvGrpSpPr/>
          <p:nvPr/>
        </p:nvGrpSpPr>
        <p:grpSpPr>
          <a:xfrm>
            <a:off x="4601867" y="1790299"/>
            <a:ext cx="1883100" cy="2086651"/>
            <a:chOff x="4601867" y="1790299"/>
            <a:chExt cx="1883100" cy="2086651"/>
          </a:xfrm>
        </p:grpSpPr>
        <p:sp>
          <p:nvSpPr>
            <p:cNvPr id="105" name="Google Shape;105;p18"/>
            <p:cNvSpPr txBox="1"/>
            <p:nvPr/>
          </p:nvSpPr>
          <p:spPr>
            <a:xfrm>
              <a:off x="4601867" y="3015422"/>
              <a:ext cx="1883100" cy="457200"/>
            </a:xfrm>
            <a:prstGeom prst="rect">
              <a:avLst/>
            </a:prstGeom>
            <a:noFill/>
            <a:ln>
              <a:noFill/>
            </a:ln>
          </p:spPr>
          <p:txBody>
            <a:bodyPr spcFirstLastPara="1" wrap="square" lIns="91425" tIns="91425" rIns="91425" bIns="91425" anchor="ctr" anchorCtr="0">
              <a:noAutofit/>
            </a:bodyPr>
            <a:lstStyle/>
            <a:p>
              <a:pPr lvl="0" algn="ctr"/>
              <a:r>
                <a:rPr lang="en" sz="2400" b="1" dirty="0">
                  <a:solidFill>
                    <a:schemeClr val="lt2"/>
                  </a:solidFill>
                  <a:latin typeface="Rajdhani"/>
                  <a:ea typeface="Rajdhani"/>
                  <a:cs typeface="Rajdhani"/>
                  <a:sym typeface="Rajdhani"/>
                </a:rPr>
                <a:t>2000–2010</a:t>
              </a:r>
              <a:endParaRPr sz="2400" b="1" dirty="0">
                <a:solidFill>
                  <a:schemeClr val="lt2"/>
                </a:solidFill>
                <a:latin typeface="Rajdhani"/>
                <a:ea typeface="Rajdhani"/>
                <a:cs typeface="Rajdhani"/>
                <a:sym typeface="Rajdhani"/>
              </a:endParaRPr>
            </a:p>
          </p:txBody>
        </p:sp>
        <p:sp>
          <p:nvSpPr>
            <p:cNvPr id="126" name="Google Shape;126;p18"/>
            <p:cNvSpPr txBox="1"/>
            <p:nvPr/>
          </p:nvSpPr>
          <p:spPr>
            <a:xfrm>
              <a:off x="4601867" y="3328250"/>
              <a:ext cx="1883100" cy="5487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Emergence of Practical UVC Systems</a:t>
              </a:r>
              <a:endParaRPr dirty="0">
                <a:solidFill>
                  <a:schemeClr val="lt2"/>
                </a:solidFill>
                <a:latin typeface="Fira Sans Condensed"/>
                <a:ea typeface="Fira Sans Condensed"/>
                <a:cs typeface="Fira Sans Condensed"/>
                <a:sym typeface="Fira Sans Condensed"/>
              </a:endParaRPr>
            </a:p>
          </p:txBody>
        </p:sp>
        <p:sp>
          <p:nvSpPr>
            <p:cNvPr id="127" name="Google Shape;127;p18"/>
            <p:cNvSpPr txBox="1"/>
            <p:nvPr/>
          </p:nvSpPr>
          <p:spPr>
            <a:xfrm>
              <a:off x="4601867" y="1790299"/>
              <a:ext cx="1883100" cy="457200"/>
            </a:xfrm>
            <a:prstGeom prst="rect">
              <a:avLst/>
            </a:prstGeom>
            <a:noFill/>
            <a:ln>
              <a:noFill/>
            </a:ln>
          </p:spPr>
          <p:txBody>
            <a:bodyPr spcFirstLastPara="1" wrap="square" lIns="91425" tIns="91425" rIns="91425" bIns="91425" anchor="b" anchorCtr="0">
              <a:noAutofit/>
            </a:bodyPr>
            <a:lstStyle/>
            <a:p>
              <a:pPr lvl="0" algn="ctr"/>
              <a:r>
                <a:rPr lang="en-US" sz="2000" b="1" dirty="0">
                  <a:solidFill>
                    <a:schemeClr val="lt2"/>
                  </a:solidFill>
                  <a:latin typeface="Rajdhani"/>
                  <a:ea typeface="Rajdhani"/>
                  <a:cs typeface="Rajdhani"/>
                  <a:sym typeface="Rajdhani"/>
                </a:rPr>
                <a:t>Implementation</a:t>
              </a:r>
              <a:endParaRPr sz="2000" b="1" dirty="0">
                <a:solidFill>
                  <a:schemeClr val="lt2"/>
                </a:solidFill>
                <a:latin typeface="Rajdhani"/>
                <a:ea typeface="Rajdhani"/>
                <a:cs typeface="Rajdhani"/>
                <a:sym typeface="Rajdhani"/>
              </a:endParaRPr>
            </a:p>
          </p:txBody>
        </p:sp>
      </p:grpSp>
      <p:grpSp>
        <p:nvGrpSpPr>
          <p:cNvPr id="128" name="Google Shape;128;p18"/>
          <p:cNvGrpSpPr/>
          <p:nvPr/>
        </p:nvGrpSpPr>
        <p:grpSpPr>
          <a:xfrm>
            <a:off x="6544500" y="1790299"/>
            <a:ext cx="1883100" cy="2087109"/>
            <a:chOff x="6544500" y="1790299"/>
            <a:chExt cx="1883100" cy="2087109"/>
          </a:xfrm>
        </p:grpSpPr>
        <p:grpSp>
          <p:nvGrpSpPr>
            <p:cNvPr id="129" name="Google Shape;129;p18"/>
            <p:cNvGrpSpPr/>
            <p:nvPr/>
          </p:nvGrpSpPr>
          <p:grpSpPr>
            <a:xfrm>
              <a:off x="6544500" y="3015422"/>
              <a:ext cx="1883100" cy="861986"/>
              <a:chOff x="6544500" y="3015422"/>
              <a:chExt cx="1883100" cy="861986"/>
            </a:xfrm>
          </p:grpSpPr>
          <p:sp>
            <p:nvSpPr>
              <p:cNvPr id="107" name="Google Shape;107;p18"/>
              <p:cNvSpPr txBox="1"/>
              <p:nvPr/>
            </p:nvSpPr>
            <p:spPr>
              <a:xfrm>
                <a:off x="6544500" y="3015422"/>
                <a:ext cx="1883100" cy="457200"/>
              </a:xfrm>
              <a:prstGeom prst="rect">
                <a:avLst/>
              </a:prstGeom>
              <a:noFill/>
              <a:ln>
                <a:noFill/>
              </a:ln>
            </p:spPr>
            <p:txBody>
              <a:bodyPr spcFirstLastPara="1" wrap="square" lIns="91425" tIns="91425" rIns="91425" bIns="91425" anchor="ctr" anchorCtr="0">
                <a:noAutofit/>
              </a:bodyPr>
              <a:lstStyle/>
              <a:p>
                <a:pPr lvl="0" algn="ctr"/>
                <a:r>
                  <a:rPr lang="en-US" sz="2400" b="1" dirty="0">
                    <a:solidFill>
                      <a:schemeClr val="lt2"/>
                    </a:solidFill>
                    <a:latin typeface="Rajdhani"/>
                    <a:ea typeface="Rajdhani"/>
                    <a:cs typeface="Rajdhani"/>
                    <a:sym typeface="Rajdhani"/>
                  </a:rPr>
                  <a:t>2010–Present</a:t>
                </a:r>
                <a:endParaRPr sz="2400" b="1" dirty="0">
                  <a:solidFill>
                    <a:schemeClr val="lt2"/>
                  </a:solidFill>
                  <a:latin typeface="Rajdhani"/>
                  <a:ea typeface="Rajdhani"/>
                  <a:cs typeface="Rajdhani"/>
                  <a:sym typeface="Rajdhani"/>
                </a:endParaRPr>
              </a:p>
            </p:txBody>
          </p:sp>
          <p:sp>
            <p:nvSpPr>
              <p:cNvPr id="130" name="Google Shape;130;p18"/>
              <p:cNvSpPr txBox="1"/>
              <p:nvPr/>
            </p:nvSpPr>
            <p:spPr>
              <a:xfrm>
                <a:off x="6544500" y="3328708"/>
                <a:ext cx="1883100" cy="5487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Advanced Modeling and Performance Enhancement</a:t>
                </a:r>
                <a:endParaRPr dirty="0">
                  <a:solidFill>
                    <a:schemeClr val="lt2"/>
                  </a:solidFill>
                  <a:latin typeface="Fira Sans Condensed"/>
                  <a:ea typeface="Fira Sans Condensed"/>
                  <a:cs typeface="Fira Sans Condensed"/>
                  <a:sym typeface="Fira Sans Condensed"/>
                </a:endParaRPr>
              </a:p>
            </p:txBody>
          </p:sp>
        </p:grpSp>
        <p:sp>
          <p:nvSpPr>
            <p:cNvPr id="131" name="Google Shape;131;p18"/>
            <p:cNvSpPr txBox="1"/>
            <p:nvPr/>
          </p:nvSpPr>
          <p:spPr>
            <a:xfrm>
              <a:off x="6544500" y="1790299"/>
              <a:ext cx="1883100" cy="457200"/>
            </a:xfrm>
            <a:prstGeom prst="rect">
              <a:avLst/>
            </a:prstGeom>
            <a:noFill/>
            <a:ln>
              <a:noFill/>
            </a:ln>
          </p:spPr>
          <p:txBody>
            <a:bodyPr spcFirstLastPara="1" wrap="square" lIns="91425" tIns="91425" rIns="91425" bIns="91425" anchor="b" anchorCtr="0">
              <a:noAutofit/>
            </a:bodyPr>
            <a:lstStyle/>
            <a:p>
              <a:pPr lvl="0" algn="ctr"/>
              <a:r>
                <a:rPr lang="en-US" sz="2000" b="1" dirty="0">
                  <a:solidFill>
                    <a:schemeClr val="lt2"/>
                  </a:solidFill>
                  <a:latin typeface="Rajdhani"/>
                  <a:ea typeface="Rajdhani"/>
                  <a:cs typeface="Rajdhani"/>
                  <a:sym typeface="Rajdhani"/>
                </a:rPr>
                <a:t>Advancement</a:t>
              </a:r>
              <a:endParaRPr sz="2000" b="1" dirty="0">
                <a:solidFill>
                  <a:schemeClr val="lt2"/>
                </a:solidFill>
                <a:latin typeface="Rajdhani"/>
                <a:ea typeface="Rajdhani"/>
                <a:cs typeface="Rajdhani"/>
                <a:sym typeface="Rajdhani"/>
              </a:endParaRPr>
            </a:p>
          </p:txBody>
        </p:sp>
      </p:grpSp>
      <p:cxnSp>
        <p:nvCxnSpPr>
          <p:cNvPr id="132" name="Google Shape;132;p18"/>
          <p:cNvCxnSpPr>
            <a:stCxn id="93" idx="0"/>
            <a:endCxn id="121" idx="2"/>
          </p:cNvCxnSpPr>
          <p:nvPr/>
        </p:nvCxnSpPr>
        <p:spPr>
          <a:xfrm rot="10800000">
            <a:off x="1658162"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3" name="Google Shape;133;p18"/>
          <p:cNvCxnSpPr>
            <a:stCxn id="94" idx="0"/>
            <a:endCxn id="124" idx="2"/>
          </p:cNvCxnSpPr>
          <p:nvPr/>
        </p:nvCxnSpPr>
        <p:spPr>
          <a:xfrm rot="10800000">
            <a:off x="3600796"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4" name="Google Shape;134;p18"/>
          <p:cNvCxnSpPr>
            <a:stCxn id="95" idx="0"/>
            <a:endCxn id="127" idx="2"/>
          </p:cNvCxnSpPr>
          <p:nvPr/>
        </p:nvCxnSpPr>
        <p:spPr>
          <a:xfrm rot="10800000">
            <a:off x="5543429"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5" name="Google Shape;135;p18"/>
          <p:cNvCxnSpPr>
            <a:stCxn id="96" idx="0"/>
            <a:endCxn id="131" idx="2"/>
          </p:cNvCxnSpPr>
          <p:nvPr/>
        </p:nvCxnSpPr>
        <p:spPr>
          <a:xfrm rot="10800000">
            <a:off x="7486062" y="2247597"/>
            <a:ext cx="0" cy="317100"/>
          </a:xfrm>
          <a:prstGeom prst="straightConnector1">
            <a:avLst/>
          </a:prstGeom>
          <a:noFill/>
          <a:ln w="19050" cap="flat" cmpd="sng">
            <a:solidFill>
              <a:schemeClr val="lt2"/>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3"/>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Research Gap</a:t>
            </a:r>
            <a:endParaRPr dirty="0"/>
          </a:p>
        </p:txBody>
      </p:sp>
      <p:cxnSp>
        <p:nvCxnSpPr>
          <p:cNvPr id="345" name="Google Shape;345;p23"/>
          <p:cNvCxnSpPr>
            <a:endCxn id="347" idx="2"/>
          </p:cNvCxnSpPr>
          <p:nvPr/>
        </p:nvCxnSpPr>
        <p:spPr>
          <a:xfrm rot="10800000" flipH="1">
            <a:off x="4672433" y="2080951"/>
            <a:ext cx="2027700" cy="21300"/>
          </a:xfrm>
          <a:prstGeom prst="straightConnector1">
            <a:avLst/>
          </a:prstGeom>
          <a:noFill/>
          <a:ln w="19050" cap="flat" cmpd="sng">
            <a:solidFill>
              <a:schemeClr val="lt2"/>
            </a:solidFill>
            <a:prstDash val="solid"/>
            <a:round/>
            <a:headEnd type="oval" w="med" len="med"/>
            <a:tailEnd type="none" w="med" len="med"/>
          </a:ln>
        </p:spPr>
      </p:cxnSp>
      <p:cxnSp>
        <p:nvCxnSpPr>
          <p:cNvPr id="348" name="Google Shape;348;p23"/>
          <p:cNvCxnSpPr>
            <a:endCxn id="350" idx="2"/>
          </p:cNvCxnSpPr>
          <p:nvPr/>
        </p:nvCxnSpPr>
        <p:spPr>
          <a:xfrm rot="10800000" flipH="1">
            <a:off x="4668906" y="2752626"/>
            <a:ext cx="2031300" cy="13800"/>
          </a:xfrm>
          <a:prstGeom prst="straightConnector1">
            <a:avLst/>
          </a:prstGeom>
          <a:noFill/>
          <a:ln w="19050" cap="flat" cmpd="sng">
            <a:solidFill>
              <a:schemeClr val="lt2"/>
            </a:solidFill>
            <a:prstDash val="solid"/>
            <a:round/>
            <a:headEnd type="oval" w="med" len="med"/>
            <a:tailEnd type="none" w="med" len="med"/>
          </a:ln>
        </p:spPr>
      </p:cxnSp>
      <p:cxnSp>
        <p:nvCxnSpPr>
          <p:cNvPr id="351" name="Google Shape;351;p23"/>
          <p:cNvCxnSpPr>
            <a:endCxn id="353" idx="2"/>
          </p:cNvCxnSpPr>
          <p:nvPr/>
        </p:nvCxnSpPr>
        <p:spPr>
          <a:xfrm flipV="1">
            <a:off x="4668905" y="3423958"/>
            <a:ext cx="1990832" cy="6644"/>
          </a:xfrm>
          <a:prstGeom prst="straightConnector1">
            <a:avLst/>
          </a:prstGeom>
          <a:noFill/>
          <a:ln w="19050" cap="flat" cmpd="sng">
            <a:solidFill>
              <a:schemeClr val="lt2"/>
            </a:solidFill>
            <a:prstDash val="solid"/>
            <a:round/>
            <a:headEnd type="oval" w="med" len="med"/>
            <a:tailEnd type="none" w="med" len="med"/>
          </a:ln>
        </p:spPr>
      </p:cxnSp>
      <p:cxnSp>
        <p:nvCxnSpPr>
          <p:cNvPr id="354" name="Google Shape;354;p23"/>
          <p:cNvCxnSpPr>
            <a:endCxn id="356" idx="2"/>
          </p:cNvCxnSpPr>
          <p:nvPr/>
        </p:nvCxnSpPr>
        <p:spPr>
          <a:xfrm rot="10800000" flipH="1">
            <a:off x="4672433" y="4073478"/>
            <a:ext cx="2027700" cy="21300"/>
          </a:xfrm>
          <a:prstGeom prst="straightConnector1">
            <a:avLst/>
          </a:prstGeom>
          <a:noFill/>
          <a:ln w="19050" cap="flat" cmpd="sng">
            <a:solidFill>
              <a:schemeClr val="lt2"/>
            </a:solidFill>
            <a:prstDash val="solid"/>
            <a:round/>
            <a:headEnd type="oval" w="med" len="med"/>
            <a:tailEnd type="none" w="med" len="med"/>
          </a:ln>
        </p:spPr>
      </p:cxnSp>
      <p:grpSp>
        <p:nvGrpSpPr>
          <p:cNvPr id="357" name="Google Shape;357;p23"/>
          <p:cNvGrpSpPr/>
          <p:nvPr/>
        </p:nvGrpSpPr>
        <p:grpSpPr>
          <a:xfrm>
            <a:off x="5767327" y="2456303"/>
            <a:ext cx="2056250" cy="592484"/>
            <a:chOff x="5767327" y="2456303"/>
            <a:chExt cx="2056250" cy="592484"/>
          </a:xfrm>
        </p:grpSpPr>
        <p:sp>
          <p:nvSpPr>
            <p:cNvPr id="350" name="Google Shape;350;p23"/>
            <p:cNvSpPr/>
            <p:nvPr/>
          </p:nvSpPr>
          <p:spPr>
            <a:xfrm>
              <a:off x="6700202" y="2657296"/>
              <a:ext cx="190500" cy="190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a:off x="5767327" y="2456303"/>
              <a:ext cx="2056250" cy="592484"/>
            </a:xfrm>
            <a:custGeom>
              <a:avLst/>
              <a:gdLst/>
              <a:ahLst/>
              <a:cxnLst/>
              <a:rect l="l" t="t" r="r" b="b"/>
              <a:pathLst>
                <a:path w="86991" h="24031" extrusionOk="0">
                  <a:moveTo>
                    <a:pt x="0" y="0"/>
                  </a:moveTo>
                  <a:lnTo>
                    <a:pt x="13945" y="24031"/>
                  </a:lnTo>
                  <a:lnTo>
                    <a:pt x="72847" y="24031"/>
                  </a:lnTo>
                  <a:lnTo>
                    <a:pt x="86991" y="0"/>
                  </a:lnTo>
                  <a:close/>
                </a:path>
              </a:pathLst>
            </a:cu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59" name="Google Shape;359;p23"/>
          <p:cNvGrpSpPr/>
          <p:nvPr/>
        </p:nvGrpSpPr>
        <p:grpSpPr>
          <a:xfrm>
            <a:off x="5804145" y="3127470"/>
            <a:ext cx="1982613" cy="592977"/>
            <a:chOff x="6099714" y="3127470"/>
            <a:chExt cx="1391475" cy="592977"/>
          </a:xfrm>
        </p:grpSpPr>
        <p:sp>
          <p:nvSpPr>
            <p:cNvPr id="353" name="Google Shape;353;p23"/>
            <p:cNvSpPr/>
            <p:nvPr/>
          </p:nvSpPr>
          <p:spPr>
            <a:xfrm>
              <a:off x="6700202" y="3328708"/>
              <a:ext cx="190500" cy="190500"/>
            </a:xfrm>
            <a:prstGeom prst="ellipse">
              <a:avLst/>
            </a:prstGeom>
            <a:solidFill>
              <a:schemeClr val="lt2"/>
            </a:solid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a:off x="6099714" y="3127470"/>
              <a:ext cx="1391475" cy="592977"/>
            </a:xfrm>
            <a:custGeom>
              <a:avLst/>
              <a:gdLst/>
              <a:ahLst/>
              <a:cxnLst/>
              <a:rect l="l" t="t" r="r" b="b"/>
              <a:pathLst>
                <a:path w="62405" h="24051" extrusionOk="0">
                  <a:moveTo>
                    <a:pt x="1" y="1"/>
                  </a:moveTo>
                  <a:lnTo>
                    <a:pt x="13707" y="24051"/>
                  </a:lnTo>
                  <a:lnTo>
                    <a:pt x="48400" y="24051"/>
                  </a:lnTo>
                  <a:lnTo>
                    <a:pt x="62404" y="1"/>
                  </a:lnTo>
                  <a:close/>
                </a:path>
              </a:pathLst>
            </a:custGeom>
            <a:ln>
              <a:solidFill>
                <a:schemeClr val="tx2"/>
              </a:solidFill>
              <a:headEnd type="none" w="sm" len="sm"/>
              <a:tailEnd type="none" w="sm" len="sm"/>
            </a:ln>
          </p:spPr>
          <p:style>
            <a:lnRef idx="2">
              <a:schemeClr val="accent3">
                <a:shade val="50000"/>
              </a:schemeClr>
            </a:lnRef>
            <a:fillRef idx="1">
              <a:schemeClr val="accent3"/>
            </a:fillRef>
            <a:effectRef idx="0">
              <a:schemeClr val="accent3"/>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61" name="Google Shape;361;p23"/>
          <p:cNvGrpSpPr/>
          <p:nvPr/>
        </p:nvGrpSpPr>
        <p:grpSpPr>
          <a:xfrm>
            <a:off x="6411324" y="3799152"/>
            <a:ext cx="768256" cy="548927"/>
            <a:chOff x="6411324" y="3799152"/>
            <a:chExt cx="768256" cy="548927"/>
          </a:xfrm>
        </p:grpSpPr>
        <p:sp>
          <p:nvSpPr>
            <p:cNvPr id="356" name="Google Shape;356;p23"/>
            <p:cNvSpPr/>
            <p:nvPr/>
          </p:nvSpPr>
          <p:spPr>
            <a:xfrm>
              <a:off x="6700202" y="3978365"/>
              <a:ext cx="190500" cy="1905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a:off x="6411324" y="3799152"/>
              <a:ext cx="768256" cy="548927"/>
            </a:xfrm>
            <a:custGeom>
              <a:avLst/>
              <a:gdLst/>
              <a:ahLst/>
              <a:cxnLst/>
              <a:rect l="l" t="t" r="r" b="b"/>
              <a:pathLst>
                <a:path w="38056" h="24052" extrusionOk="0">
                  <a:moveTo>
                    <a:pt x="1" y="1"/>
                  </a:moveTo>
                  <a:lnTo>
                    <a:pt x="13926" y="24051"/>
                  </a:lnTo>
                  <a:lnTo>
                    <a:pt x="24091" y="24051"/>
                  </a:lnTo>
                  <a:lnTo>
                    <a:pt x="38055" y="1"/>
                  </a:lnTo>
                  <a:close/>
                </a:path>
              </a:pathLst>
            </a:cu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63" name="Google Shape;363;p23"/>
          <p:cNvGrpSpPr/>
          <p:nvPr/>
        </p:nvGrpSpPr>
        <p:grpSpPr>
          <a:xfrm>
            <a:off x="5420948" y="1784583"/>
            <a:ext cx="2749008" cy="593002"/>
            <a:chOff x="5420948" y="1784583"/>
            <a:chExt cx="2749008" cy="593002"/>
          </a:xfrm>
        </p:grpSpPr>
        <p:sp>
          <p:nvSpPr>
            <p:cNvPr id="347" name="Google Shape;347;p23"/>
            <p:cNvSpPr/>
            <p:nvPr/>
          </p:nvSpPr>
          <p:spPr>
            <a:xfrm>
              <a:off x="6700202" y="1985834"/>
              <a:ext cx="190500" cy="190500"/>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3"/>
            <p:cNvSpPr/>
            <p:nvPr/>
          </p:nvSpPr>
          <p:spPr>
            <a:xfrm>
              <a:off x="5420948" y="1784583"/>
              <a:ext cx="2749008" cy="593002"/>
            </a:xfrm>
            <a:custGeom>
              <a:avLst/>
              <a:gdLst/>
              <a:ahLst/>
              <a:cxnLst/>
              <a:rect l="l" t="t" r="r" b="b"/>
              <a:pathLst>
                <a:path w="111499" h="24052" extrusionOk="0">
                  <a:moveTo>
                    <a:pt x="0" y="1"/>
                  </a:moveTo>
                  <a:lnTo>
                    <a:pt x="13925" y="24051"/>
                  </a:lnTo>
                  <a:lnTo>
                    <a:pt x="97037" y="24051"/>
                  </a:lnTo>
                  <a:lnTo>
                    <a:pt x="111499" y="1"/>
                  </a:lnTo>
                  <a:close/>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595959"/>
                </a:solidFill>
                <a:latin typeface="Roboto"/>
                <a:ea typeface="Roboto"/>
                <a:cs typeface="Roboto"/>
                <a:sym typeface="Roboto"/>
              </a:endParaRPr>
            </a:p>
          </p:txBody>
        </p:sp>
      </p:grpSp>
      <p:sp>
        <p:nvSpPr>
          <p:cNvPr id="366" name="Google Shape;366;p23"/>
          <p:cNvSpPr txBox="1"/>
          <p:nvPr/>
        </p:nvSpPr>
        <p:spPr>
          <a:xfrm>
            <a:off x="1417037" y="2524176"/>
            <a:ext cx="247245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2"/>
                </a:solidFill>
                <a:latin typeface="Rajdhani"/>
                <a:ea typeface="Rajdhani"/>
                <a:cs typeface="Rajdhani"/>
                <a:sym typeface="Rajdhani"/>
              </a:rPr>
              <a:t>Challengs of </a:t>
            </a:r>
            <a:r>
              <a:rPr lang="en" sz="2400" b="1" dirty="0" smtClean="0">
                <a:solidFill>
                  <a:schemeClr val="lt2"/>
                </a:solidFill>
                <a:latin typeface="Rajdhani"/>
                <a:ea typeface="Rajdhani"/>
                <a:cs typeface="Rajdhani"/>
                <a:sym typeface="Rajdhani"/>
              </a:rPr>
              <a:t>UVC</a:t>
            </a:r>
            <a:endParaRPr sz="2400" b="1" dirty="0">
              <a:solidFill>
                <a:schemeClr val="lt2"/>
              </a:solidFill>
              <a:latin typeface="Rajdhani"/>
              <a:ea typeface="Rajdhani"/>
              <a:cs typeface="Rajdhani"/>
              <a:sym typeface="Rajdhani"/>
            </a:endParaRPr>
          </a:p>
        </p:txBody>
      </p:sp>
      <p:sp>
        <p:nvSpPr>
          <p:cNvPr id="368" name="Google Shape;368;p23"/>
          <p:cNvSpPr txBox="1"/>
          <p:nvPr/>
        </p:nvSpPr>
        <p:spPr>
          <a:xfrm>
            <a:off x="1584963" y="3759780"/>
            <a:ext cx="2962547" cy="683759"/>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 sz="2400" b="1" dirty="0" smtClean="0">
                <a:solidFill>
                  <a:schemeClr val="lt2"/>
                </a:solidFill>
                <a:latin typeface="Rajdhani"/>
                <a:ea typeface="Rajdhani"/>
                <a:cs typeface="Rajdhani"/>
                <a:sym typeface="Rajdhani"/>
              </a:rPr>
              <a:t>Implementation of UVC</a:t>
            </a:r>
            <a:endParaRPr sz="2400" b="1" dirty="0">
              <a:solidFill>
                <a:schemeClr val="lt2"/>
              </a:solidFill>
              <a:latin typeface="Rajdhani"/>
              <a:ea typeface="Rajdhani"/>
              <a:cs typeface="Rajdhani"/>
              <a:sym typeface="Rajdhani"/>
            </a:endParaRPr>
          </a:p>
        </p:txBody>
      </p:sp>
      <p:sp>
        <p:nvSpPr>
          <p:cNvPr id="370" name="Google Shape;370;p23"/>
          <p:cNvSpPr txBox="1"/>
          <p:nvPr/>
        </p:nvSpPr>
        <p:spPr>
          <a:xfrm>
            <a:off x="1262842" y="1860001"/>
            <a:ext cx="2626645"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2"/>
                </a:solidFill>
                <a:latin typeface="Rajdhani"/>
                <a:ea typeface="Rajdhani"/>
                <a:cs typeface="Rajdhani"/>
                <a:sym typeface="Rajdhani"/>
              </a:rPr>
              <a:t>Benefits of </a:t>
            </a:r>
            <a:r>
              <a:rPr lang="en-US" sz="2400" b="1" dirty="0" smtClean="0">
                <a:solidFill>
                  <a:schemeClr val="lt2"/>
                </a:solidFill>
                <a:latin typeface="Rajdhani"/>
                <a:ea typeface="Rajdhani"/>
                <a:cs typeface="Rajdhani"/>
                <a:sym typeface="Rajdhani"/>
              </a:rPr>
              <a:t>UVC</a:t>
            </a:r>
            <a:endParaRPr sz="2400" b="1" dirty="0">
              <a:solidFill>
                <a:schemeClr val="lt2"/>
              </a:solidFill>
              <a:latin typeface="Rajdhani"/>
              <a:ea typeface="Rajdhani"/>
              <a:cs typeface="Rajdhani"/>
              <a:sym typeface="Rajdhani"/>
            </a:endParaRPr>
          </a:p>
        </p:txBody>
      </p:sp>
      <p:sp>
        <p:nvSpPr>
          <p:cNvPr id="372" name="Google Shape;372;p23"/>
          <p:cNvSpPr txBox="1"/>
          <p:nvPr/>
        </p:nvSpPr>
        <p:spPr>
          <a:xfrm>
            <a:off x="1317021" y="3181208"/>
            <a:ext cx="2512967"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2"/>
                </a:solidFill>
                <a:latin typeface="Rajdhani"/>
                <a:ea typeface="Rajdhani"/>
                <a:cs typeface="Rajdhani"/>
                <a:sym typeface="Rajdhani"/>
              </a:rPr>
              <a:t>There is a gap</a:t>
            </a:r>
            <a:endParaRPr sz="2400" b="1" dirty="0">
              <a:solidFill>
                <a:schemeClr val="lt2"/>
              </a:solidFill>
              <a:latin typeface="Rajdhani"/>
              <a:ea typeface="Rajdhani"/>
              <a:cs typeface="Rajdhani"/>
              <a:sym typeface="Rajdhani"/>
            </a:endParaRPr>
          </a:p>
        </p:txBody>
      </p:sp>
      <p:grpSp>
        <p:nvGrpSpPr>
          <p:cNvPr id="374" name="Google Shape;374;p23"/>
          <p:cNvGrpSpPr/>
          <p:nvPr/>
        </p:nvGrpSpPr>
        <p:grpSpPr>
          <a:xfrm>
            <a:off x="936867" y="3313569"/>
            <a:ext cx="332761" cy="234066"/>
            <a:chOff x="7989683" y="2350207"/>
            <a:chExt cx="332761" cy="234066"/>
          </a:xfrm>
        </p:grpSpPr>
        <p:sp>
          <p:nvSpPr>
            <p:cNvPr id="375" name="Google Shape;375;p23"/>
            <p:cNvSpPr/>
            <p:nvPr/>
          </p:nvSpPr>
          <p:spPr>
            <a:xfrm>
              <a:off x="8258902" y="2396188"/>
              <a:ext cx="29119" cy="22101"/>
            </a:xfrm>
            <a:custGeom>
              <a:avLst/>
              <a:gdLst/>
              <a:ahLst/>
              <a:cxnLst/>
              <a:rect l="l" t="t" r="r" b="b"/>
              <a:pathLst>
                <a:path w="917" h="696" extrusionOk="0">
                  <a:moveTo>
                    <a:pt x="165" y="0"/>
                  </a:moveTo>
                  <a:cubicBezTo>
                    <a:pt x="114" y="0"/>
                    <a:pt x="64" y="22"/>
                    <a:pt x="36" y="64"/>
                  </a:cubicBezTo>
                  <a:cubicBezTo>
                    <a:pt x="0" y="148"/>
                    <a:pt x="12" y="243"/>
                    <a:pt x="84" y="291"/>
                  </a:cubicBezTo>
                  <a:cubicBezTo>
                    <a:pt x="262" y="410"/>
                    <a:pt x="441" y="529"/>
                    <a:pt x="631" y="660"/>
                  </a:cubicBezTo>
                  <a:cubicBezTo>
                    <a:pt x="667" y="684"/>
                    <a:pt x="691" y="695"/>
                    <a:pt x="726" y="695"/>
                  </a:cubicBezTo>
                  <a:cubicBezTo>
                    <a:pt x="762" y="695"/>
                    <a:pt x="834" y="660"/>
                    <a:pt x="857" y="624"/>
                  </a:cubicBezTo>
                  <a:cubicBezTo>
                    <a:pt x="917" y="565"/>
                    <a:pt x="893" y="457"/>
                    <a:pt x="810" y="398"/>
                  </a:cubicBezTo>
                  <a:cubicBezTo>
                    <a:pt x="619" y="267"/>
                    <a:pt x="441" y="148"/>
                    <a:pt x="262" y="29"/>
                  </a:cubicBezTo>
                  <a:cubicBezTo>
                    <a:pt x="234" y="10"/>
                    <a:pt x="199" y="0"/>
                    <a:pt x="1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3"/>
            <p:cNvSpPr/>
            <p:nvPr/>
          </p:nvSpPr>
          <p:spPr>
            <a:xfrm>
              <a:off x="8051320" y="2350207"/>
              <a:ext cx="194753" cy="49919"/>
            </a:xfrm>
            <a:custGeom>
              <a:avLst/>
              <a:gdLst/>
              <a:ahLst/>
              <a:cxnLst/>
              <a:rect l="l" t="t" r="r" b="b"/>
              <a:pathLst>
                <a:path w="6133" h="1572" extrusionOk="0">
                  <a:moveTo>
                    <a:pt x="3299" y="0"/>
                  </a:moveTo>
                  <a:cubicBezTo>
                    <a:pt x="2501" y="0"/>
                    <a:pt x="1441" y="417"/>
                    <a:pt x="108" y="1274"/>
                  </a:cubicBezTo>
                  <a:cubicBezTo>
                    <a:pt x="24" y="1322"/>
                    <a:pt x="1" y="1429"/>
                    <a:pt x="60" y="1501"/>
                  </a:cubicBezTo>
                  <a:cubicBezTo>
                    <a:pt x="84" y="1548"/>
                    <a:pt x="144" y="1572"/>
                    <a:pt x="191" y="1572"/>
                  </a:cubicBezTo>
                  <a:cubicBezTo>
                    <a:pt x="227" y="1572"/>
                    <a:pt x="251" y="1560"/>
                    <a:pt x="286" y="1548"/>
                  </a:cubicBezTo>
                  <a:cubicBezTo>
                    <a:pt x="1572" y="727"/>
                    <a:pt x="2560" y="322"/>
                    <a:pt x="3299" y="322"/>
                  </a:cubicBezTo>
                  <a:cubicBezTo>
                    <a:pt x="3954" y="322"/>
                    <a:pt x="4787" y="643"/>
                    <a:pt x="5859" y="1262"/>
                  </a:cubicBezTo>
                  <a:cubicBezTo>
                    <a:pt x="5885" y="1277"/>
                    <a:pt x="5912" y="1284"/>
                    <a:pt x="5939" y="1284"/>
                  </a:cubicBezTo>
                  <a:cubicBezTo>
                    <a:pt x="5997" y="1284"/>
                    <a:pt x="6052" y="1252"/>
                    <a:pt x="6085" y="1203"/>
                  </a:cubicBezTo>
                  <a:cubicBezTo>
                    <a:pt x="6132" y="1131"/>
                    <a:pt x="6097" y="1024"/>
                    <a:pt x="6025" y="977"/>
                  </a:cubicBezTo>
                  <a:cubicBezTo>
                    <a:pt x="4906" y="322"/>
                    <a:pt x="4013" y="0"/>
                    <a:pt x="3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3"/>
            <p:cNvSpPr/>
            <p:nvPr/>
          </p:nvSpPr>
          <p:spPr>
            <a:xfrm>
              <a:off x="7989683" y="2378183"/>
              <a:ext cx="332761" cy="206090"/>
            </a:xfrm>
            <a:custGeom>
              <a:avLst/>
              <a:gdLst/>
              <a:ahLst/>
              <a:cxnLst/>
              <a:rect l="l" t="t" r="r" b="b"/>
              <a:pathLst>
                <a:path w="10479" h="6490" extrusionOk="0">
                  <a:moveTo>
                    <a:pt x="5240" y="334"/>
                  </a:moveTo>
                  <a:cubicBezTo>
                    <a:pt x="6597" y="334"/>
                    <a:pt x="9276" y="2453"/>
                    <a:pt x="10086" y="3096"/>
                  </a:cubicBezTo>
                  <a:cubicBezTo>
                    <a:pt x="10121" y="3132"/>
                    <a:pt x="10157" y="3179"/>
                    <a:pt x="10157" y="3239"/>
                  </a:cubicBezTo>
                  <a:cubicBezTo>
                    <a:pt x="10157" y="3298"/>
                    <a:pt x="10121" y="3346"/>
                    <a:pt x="10086" y="3394"/>
                  </a:cubicBezTo>
                  <a:cubicBezTo>
                    <a:pt x="9288" y="4025"/>
                    <a:pt x="6597" y="6144"/>
                    <a:pt x="5240" y="6144"/>
                  </a:cubicBezTo>
                  <a:cubicBezTo>
                    <a:pt x="3894" y="6144"/>
                    <a:pt x="1215" y="4025"/>
                    <a:pt x="406" y="3394"/>
                  </a:cubicBezTo>
                  <a:cubicBezTo>
                    <a:pt x="358" y="3346"/>
                    <a:pt x="334" y="3298"/>
                    <a:pt x="334" y="3239"/>
                  </a:cubicBezTo>
                  <a:cubicBezTo>
                    <a:pt x="334" y="3179"/>
                    <a:pt x="358" y="3120"/>
                    <a:pt x="406" y="3096"/>
                  </a:cubicBezTo>
                  <a:cubicBezTo>
                    <a:pt x="1192" y="2453"/>
                    <a:pt x="3894" y="334"/>
                    <a:pt x="5240" y="334"/>
                  </a:cubicBezTo>
                  <a:close/>
                  <a:moveTo>
                    <a:pt x="5240" y="0"/>
                  </a:moveTo>
                  <a:cubicBezTo>
                    <a:pt x="3811" y="0"/>
                    <a:pt x="1239" y="1977"/>
                    <a:pt x="191" y="2822"/>
                  </a:cubicBezTo>
                  <a:cubicBezTo>
                    <a:pt x="84" y="2929"/>
                    <a:pt x="1" y="3072"/>
                    <a:pt x="1" y="3239"/>
                  </a:cubicBezTo>
                  <a:cubicBezTo>
                    <a:pt x="1" y="3406"/>
                    <a:pt x="84" y="3548"/>
                    <a:pt x="191" y="3656"/>
                  </a:cubicBezTo>
                  <a:cubicBezTo>
                    <a:pt x="1239" y="4501"/>
                    <a:pt x="3811" y="6489"/>
                    <a:pt x="5240" y="6489"/>
                  </a:cubicBezTo>
                  <a:cubicBezTo>
                    <a:pt x="6657" y="6489"/>
                    <a:pt x="9252" y="4501"/>
                    <a:pt x="10288" y="3656"/>
                  </a:cubicBezTo>
                  <a:cubicBezTo>
                    <a:pt x="10407" y="3548"/>
                    <a:pt x="10478" y="3406"/>
                    <a:pt x="10478" y="3239"/>
                  </a:cubicBezTo>
                  <a:cubicBezTo>
                    <a:pt x="10478" y="3072"/>
                    <a:pt x="10407" y="2929"/>
                    <a:pt x="10288" y="2822"/>
                  </a:cubicBezTo>
                  <a:cubicBezTo>
                    <a:pt x="9252" y="1977"/>
                    <a:pt x="6668" y="0"/>
                    <a:pt x="52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8081201" y="2405746"/>
              <a:ext cx="151598" cy="149884"/>
            </a:xfrm>
            <a:custGeom>
              <a:avLst/>
              <a:gdLst/>
              <a:ahLst/>
              <a:cxnLst/>
              <a:rect l="l" t="t" r="r" b="b"/>
              <a:pathLst>
                <a:path w="4774" h="4720" extrusionOk="0">
                  <a:moveTo>
                    <a:pt x="2351" y="1"/>
                  </a:moveTo>
                  <a:cubicBezTo>
                    <a:pt x="2329" y="1"/>
                    <a:pt x="2308" y="1"/>
                    <a:pt x="2286" y="2"/>
                  </a:cubicBezTo>
                  <a:cubicBezTo>
                    <a:pt x="1048" y="49"/>
                    <a:pt x="36" y="1049"/>
                    <a:pt x="12" y="2288"/>
                  </a:cubicBezTo>
                  <a:cubicBezTo>
                    <a:pt x="0" y="2907"/>
                    <a:pt x="203" y="3478"/>
                    <a:pt x="572" y="3907"/>
                  </a:cubicBezTo>
                  <a:cubicBezTo>
                    <a:pt x="602" y="3943"/>
                    <a:pt x="646" y="3960"/>
                    <a:pt x="691" y="3960"/>
                  </a:cubicBezTo>
                  <a:cubicBezTo>
                    <a:pt x="735" y="3960"/>
                    <a:pt x="780" y="3943"/>
                    <a:pt x="810" y="3907"/>
                  </a:cubicBezTo>
                  <a:cubicBezTo>
                    <a:pt x="869" y="3847"/>
                    <a:pt x="869" y="3740"/>
                    <a:pt x="810" y="3681"/>
                  </a:cubicBezTo>
                  <a:cubicBezTo>
                    <a:pt x="488" y="3312"/>
                    <a:pt x="310" y="2800"/>
                    <a:pt x="322" y="2264"/>
                  </a:cubicBezTo>
                  <a:cubicBezTo>
                    <a:pt x="369" y="1228"/>
                    <a:pt x="1215" y="383"/>
                    <a:pt x="2262" y="335"/>
                  </a:cubicBezTo>
                  <a:cubicBezTo>
                    <a:pt x="2297" y="333"/>
                    <a:pt x="2332" y="332"/>
                    <a:pt x="2366" y="332"/>
                  </a:cubicBezTo>
                  <a:cubicBezTo>
                    <a:pt x="3487" y="332"/>
                    <a:pt x="4416" y="1263"/>
                    <a:pt x="4382" y="2407"/>
                  </a:cubicBezTo>
                  <a:cubicBezTo>
                    <a:pt x="4370" y="3478"/>
                    <a:pt x="3489" y="4347"/>
                    <a:pt x="2417" y="4395"/>
                  </a:cubicBezTo>
                  <a:cubicBezTo>
                    <a:pt x="2394" y="4396"/>
                    <a:pt x="2371" y="4396"/>
                    <a:pt x="2348" y="4396"/>
                  </a:cubicBezTo>
                  <a:cubicBezTo>
                    <a:pt x="2003" y="4396"/>
                    <a:pt x="1671" y="4313"/>
                    <a:pt x="1381" y="4157"/>
                  </a:cubicBezTo>
                  <a:cubicBezTo>
                    <a:pt x="1355" y="4141"/>
                    <a:pt x="1323" y="4132"/>
                    <a:pt x="1290" y="4132"/>
                  </a:cubicBezTo>
                  <a:cubicBezTo>
                    <a:pt x="1248" y="4132"/>
                    <a:pt x="1206" y="4147"/>
                    <a:pt x="1179" y="4181"/>
                  </a:cubicBezTo>
                  <a:cubicBezTo>
                    <a:pt x="1108" y="4264"/>
                    <a:pt x="1119" y="4395"/>
                    <a:pt x="1227" y="4443"/>
                  </a:cubicBezTo>
                  <a:cubicBezTo>
                    <a:pt x="1540" y="4615"/>
                    <a:pt x="1902" y="4720"/>
                    <a:pt x="2287" y="4720"/>
                  </a:cubicBezTo>
                  <a:cubicBezTo>
                    <a:pt x="2326" y="4720"/>
                    <a:pt x="2366" y="4719"/>
                    <a:pt x="2405" y="4716"/>
                  </a:cubicBezTo>
                  <a:cubicBezTo>
                    <a:pt x="3655" y="4693"/>
                    <a:pt x="4679" y="3681"/>
                    <a:pt x="4715" y="2442"/>
                  </a:cubicBezTo>
                  <a:cubicBezTo>
                    <a:pt x="4774" y="1095"/>
                    <a:pt x="3690" y="1"/>
                    <a:pt x="23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3"/>
            <p:cNvSpPr/>
            <p:nvPr/>
          </p:nvSpPr>
          <p:spPr>
            <a:xfrm>
              <a:off x="8115973" y="2440550"/>
              <a:ext cx="80562" cy="80213"/>
            </a:xfrm>
            <a:custGeom>
              <a:avLst/>
              <a:gdLst/>
              <a:ahLst/>
              <a:cxnLst/>
              <a:rect l="l" t="t" r="r" b="b"/>
              <a:pathLst>
                <a:path w="2537" h="2526" extrusionOk="0">
                  <a:moveTo>
                    <a:pt x="1263" y="1"/>
                  </a:moveTo>
                  <a:cubicBezTo>
                    <a:pt x="572" y="1"/>
                    <a:pt x="1" y="561"/>
                    <a:pt x="1" y="1263"/>
                  </a:cubicBezTo>
                  <a:cubicBezTo>
                    <a:pt x="1" y="1965"/>
                    <a:pt x="572" y="2525"/>
                    <a:pt x="1263" y="2525"/>
                  </a:cubicBezTo>
                  <a:cubicBezTo>
                    <a:pt x="1965" y="2525"/>
                    <a:pt x="2537" y="1965"/>
                    <a:pt x="2537" y="1263"/>
                  </a:cubicBezTo>
                  <a:cubicBezTo>
                    <a:pt x="2537" y="1168"/>
                    <a:pt x="2453" y="1096"/>
                    <a:pt x="2370" y="1096"/>
                  </a:cubicBezTo>
                  <a:cubicBezTo>
                    <a:pt x="2275" y="1096"/>
                    <a:pt x="2203" y="1168"/>
                    <a:pt x="2203" y="1263"/>
                  </a:cubicBezTo>
                  <a:cubicBezTo>
                    <a:pt x="2203" y="1787"/>
                    <a:pt x="1787" y="2204"/>
                    <a:pt x="1263" y="2204"/>
                  </a:cubicBezTo>
                  <a:cubicBezTo>
                    <a:pt x="751" y="2204"/>
                    <a:pt x="334" y="1787"/>
                    <a:pt x="334" y="1263"/>
                  </a:cubicBezTo>
                  <a:cubicBezTo>
                    <a:pt x="334" y="739"/>
                    <a:pt x="751" y="322"/>
                    <a:pt x="1263" y="322"/>
                  </a:cubicBezTo>
                  <a:cubicBezTo>
                    <a:pt x="1358" y="322"/>
                    <a:pt x="1429" y="251"/>
                    <a:pt x="1429" y="156"/>
                  </a:cubicBezTo>
                  <a:cubicBezTo>
                    <a:pt x="1429" y="72"/>
                    <a:pt x="1358" y="1"/>
                    <a:pt x="12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3"/>
            <p:cNvSpPr/>
            <p:nvPr/>
          </p:nvSpPr>
          <p:spPr>
            <a:xfrm>
              <a:off x="8164749" y="2447377"/>
              <a:ext cx="24610" cy="24610"/>
            </a:xfrm>
            <a:custGeom>
              <a:avLst/>
              <a:gdLst/>
              <a:ahLst/>
              <a:cxnLst/>
              <a:rect l="l" t="t" r="r" b="b"/>
              <a:pathLst>
                <a:path w="775" h="775" extrusionOk="0">
                  <a:moveTo>
                    <a:pt x="382" y="0"/>
                  </a:moveTo>
                  <a:cubicBezTo>
                    <a:pt x="179" y="0"/>
                    <a:pt x="1" y="179"/>
                    <a:pt x="1" y="393"/>
                  </a:cubicBezTo>
                  <a:cubicBezTo>
                    <a:pt x="1" y="596"/>
                    <a:pt x="179" y="774"/>
                    <a:pt x="382" y="774"/>
                  </a:cubicBezTo>
                  <a:cubicBezTo>
                    <a:pt x="596" y="774"/>
                    <a:pt x="774" y="596"/>
                    <a:pt x="774" y="393"/>
                  </a:cubicBezTo>
                  <a:cubicBezTo>
                    <a:pt x="774" y="179"/>
                    <a:pt x="608" y="0"/>
                    <a:pt x="3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3"/>
          <p:cNvGrpSpPr/>
          <p:nvPr/>
        </p:nvGrpSpPr>
        <p:grpSpPr>
          <a:xfrm>
            <a:off x="969447" y="1985834"/>
            <a:ext cx="356196" cy="265631"/>
            <a:chOff x="5216456" y="3725484"/>
            <a:chExt cx="356196" cy="265631"/>
          </a:xfrm>
        </p:grpSpPr>
        <p:sp>
          <p:nvSpPr>
            <p:cNvPr id="386" name="Google Shape;386;p23"/>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3"/>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347235">
            <a:off x="6999614" y="3289018"/>
            <a:ext cx="435684" cy="43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347235">
            <a:off x="6776397" y="3123930"/>
            <a:ext cx="435684" cy="43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347235">
            <a:off x="6534168" y="3310840"/>
            <a:ext cx="435684" cy="43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347235">
            <a:off x="6349682" y="3123930"/>
            <a:ext cx="435684" cy="43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7" name="Google Shape;385;p23"/>
          <p:cNvGrpSpPr/>
          <p:nvPr/>
        </p:nvGrpSpPr>
        <p:grpSpPr>
          <a:xfrm>
            <a:off x="952040" y="3903234"/>
            <a:ext cx="356196" cy="265631"/>
            <a:chOff x="5216456" y="3725484"/>
            <a:chExt cx="356196" cy="265631"/>
          </a:xfrm>
        </p:grpSpPr>
        <p:sp>
          <p:nvSpPr>
            <p:cNvPr id="58" name="Google Shape;386;p23"/>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87;p23"/>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385;p23"/>
          <p:cNvGrpSpPr/>
          <p:nvPr/>
        </p:nvGrpSpPr>
        <p:grpSpPr>
          <a:xfrm>
            <a:off x="970188" y="2633611"/>
            <a:ext cx="356196" cy="265631"/>
            <a:chOff x="5216456" y="3725484"/>
            <a:chExt cx="356196" cy="265631"/>
          </a:xfrm>
        </p:grpSpPr>
        <p:sp>
          <p:nvSpPr>
            <p:cNvPr id="61" name="Google Shape;386;p23"/>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87;p23"/>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82454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Research Questions</a:t>
            </a:r>
            <a:endParaRPr dirty="0"/>
          </a:p>
        </p:txBody>
      </p:sp>
      <p:sp>
        <p:nvSpPr>
          <p:cNvPr id="400" name="Google Shape;400;p24"/>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400" b="1" dirty="0">
                <a:solidFill>
                  <a:schemeClr val="lt2"/>
                </a:solidFill>
                <a:latin typeface="Rajdhani"/>
                <a:ea typeface="Rajdhani"/>
                <a:cs typeface="Rajdhani"/>
                <a:sym typeface="Rajdhani"/>
              </a:rPr>
              <a:t>?</a:t>
            </a:r>
            <a:endParaRPr sz="2400" b="1" dirty="0">
              <a:solidFill>
                <a:schemeClr val="lt2"/>
              </a:solidFill>
              <a:latin typeface="Rajdhani"/>
              <a:ea typeface="Rajdhani"/>
              <a:cs typeface="Rajdhani"/>
              <a:sym typeface="Rajdhani"/>
            </a:endParaRPr>
          </a:p>
        </p:txBody>
      </p:sp>
      <p:grpSp>
        <p:nvGrpSpPr>
          <p:cNvPr id="403" name="Google Shape;403;p24"/>
          <p:cNvGrpSpPr/>
          <p:nvPr/>
        </p:nvGrpSpPr>
        <p:grpSpPr>
          <a:xfrm>
            <a:off x="678156" y="3034414"/>
            <a:ext cx="2259814" cy="906993"/>
            <a:chOff x="681411" y="3511858"/>
            <a:chExt cx="2259814" cy="906993"/>
          </a:xfrm>
        </p:grpSpPr>
        <p:sp>
          <p:nvSpPr>
            <p:cNvPr id="404" name="Google Shape;404;p24"/>
            <p:cNvSpPr txBox="1"/>
            <p:nvPr/>
          </p:nvSpPr>
          <p:spPr>
            <a:xfrm>
              <a:off x="681411" y="3934351"/>
              <a:ext cx="2259814" cy="4845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How do environmental factors such as transmission distance, fog density, and dust concentration affect the performance </a:t>
              </a:r>
              <a:r>
                <a:rPr lang="en-US" dirty="0" smtClean="0">
                  <a:solidFill>
                    <a:schemeClr val="lt2"/>
                  </a:solidFill>
                  <a:latin typeface="Fira Sans Condensed"/>
                  <a:ea typeface="Fira Sans Condensed"/>
                  <a:cs typeface="Fira Sans Condensed"/>
                  <a:sym typeface="Fira Sans Condensed"/>
                </a:rPr>
                <a:t>of UVC </a:t>
              </a:r>
              <a:r>
                <a:rPr lang="en-US" dirty="0">
                  <a:solidFill>
                    <a:schemeClr val="lt2"/>
                  </a:solidFill>
                  <a:latin typeface="Fira Sans Condensed"/>
                  <a:ea typeface="Fira Sans Condensed"/>
                  <a:cs typeface="Fira Sans Condensed"/>
                  <a:sym typeface="Fira Sans Condensed"/>
                </a:rPr>
                <a:t>systems?</a:t>
              </a:r>
              <a:endParaRPr lang="en-US" dirty="0">
                <a:solidFill>
                  <a:schemeClr val="lt2"/>
                </a:solidFill>
                <a:latin typeface="Fira Sans Condensed"/>
                <a:ea typeface="Fira Sans Condensed"/>
                <a:cs typeface="Fira Sans Condensed"/>
                <a:sym typeface="Fira Sans Condensed"/>
              </a:endParaRPr>
            </a:p>
          </p:txBody>
        </p:sp>
        <p:sp>
          <p:nvSpPr>
            <p:cNvPr id="405" name="Google Shape;405;p24"/>
            <p:cNvSpPr txBox="1"/>
            <p:nvPr/>
          </p:nvSpPr>
          <p:spPr>
            <a:xfrm>
              <a:off x="1078463" y="3511858"/>
              <a:ext cx="1470600" cy="457200"/>
            </a:xfrm>
            <a:prstGeom prst="rect">
              <a:avLst/>
            </a:prstGeom>
            <a:noFill/>
            <a:ln>
              <a:noFill/>
            </a:ln>
          </p:spPr>
          <p:txBody>
            <a:bodyPr spcFirstLastPara="1" wrap="square" lIns="91425" tIns="91425" rIns="91425" bIns="91425" anchor="b" anchorCtr="0">
              <a:noAutofit/>
            </a:bodyPr>
            <a:lstStyle/>
            <a:p>
              <a:pPr lvl="0" algn="ctr"/>
              <a:r>
                <a:rPr lang="en-US" sz="2400" b="1" dirty="0">
                  <a:solidFill>
                    <a:schemeClr val="lt2"/>
                  </a:solidFill>
                  <a:latin typeface="Rajdhani"/>
                  <a:ea typeface="Rajdhani"/>
                  <a:cs typeface="Rajdhani"/>
                  <a:sym typeface="Rajdhani"/>
                </a:rPr>
                <a:t>Q1</a:t>
              </a:r>
              <a:endParaRPr sz="2400" b="1" dirty="0">
                <a:solidFill>
                  <a:schemeClr val="lt2"/>
                </a:solidFill>
                <a:latin typeface="Rajdhani"/>
                <a:ea typeface="Rajdhani"/>
                <a:cs typeface="Rajdhani"/>
                <a:sym typeface="Rajdhani"/>
              </a:endParaRPr>
            </a:p>
          </p:txBody>
        </p:sp>
      </p:grpSp>
      <p:sp>
        <p:nvSpPr>
          <p:cNvPr id="435" name="Google Shape;435;p24"/>
          <p:cNvSpPr/>
          <p:nvPr/>
        </p:nvSpPr>
        <p:spPr>
          <a:xfrm>
            <a:off x="4400332" y="2484428"/>
            <a:ext cx="343335" cy="343303"/>
          </a:xfrm>
          <a:custGeom>
            <a:avLst/>
            <a:gdLst/>
            <a:ahLst/>
            <a:cxnLst/>
            <a:rect l="l" t="t" r="r" b="b"/>
            <a:pathLst>
              <a:path w="10812" h="10811" extrusionOk="0">
                <a:moveTo>
                  <a:pt x="2769" y="2858"/>
                </a:moveTo>
                <a:cubicBezTo>
                  <a:pt x="2830" y="2858"/>
                  <a:pt x="2892" y="2866"/>
                  <a:pt x="2954" y="2881"/>
                </a:cubicBezTo>
                <a:cubicBezTo>
                  <a:pt x="3251" y="2941"/>
                  <a:pt x="3489" y="3191"/>
                  <a:pt x="3549" y="3489"/>
                </a:cubicBezTo>
                <a:cubicBezTo>
                  <a:pt x="3608" y="3774"/>
                  <a:pt x="3501" y="4036"/>
                  <a:pt x="3275" y="4227"/>
                </a:cubicBezTo>
                <a:cubicBezTo>
                  <a:pt x="3132" y="4346"/>
                  <a:pt x="3037" y="4548"/>
                  <a:pt x="3037" y="4739"/>
                </a:cubicBezTo>
                <a:lnTo>
                  <a:pt x="3037" y="5084"/>
                </a:lnTo>
                <a:cubicBezTo>
                  <a:pt x="3037" y="5346"/>
                  <a:pt x="3263" y="5572"/>
                  <a:pt x="3525" y="5572"/>
                </a:cubicBezTo>
                <a:lnTo>
                  <a:pt x="5228" y="5572"/>
                </a:lnTo>
                <a:lnTo>
                  <a:pt x="5228" y="7263"/>
                </a:lnTo>
                <a:cubicBezTo>
                  <a:pt x="5228" y="7370"/>
                  <a:pt x="5156" y="7441"/>
                  <a:pt x="5049" y="7441"/>
                </a:cubicBezTo>
                <a:lnTo>
                  <a:pt x="4704" y="7441"/>
                </a:lnTo>
                <a:cubicBezTo>
                  <a:pt x="4597" y="7441"/>
                  <a:pt x="4513" y="7406"/>
                  <a:pt x="4442" y="7322"/>
                </a:cubicBezTo>
                <a:cubicBezTo>
                  <a:pt x="4225" y="7076"/>
                  <a:pt x="3925" y="6935"/>
                  <a:pt x="3599" y="6935"/>
                </a:cubicBezTo>
                <a:cubicBezTo>
                  <a:pt x="3532" y="6935"/>
                  <a:pt x="3463" y="6941"/>
                  <a:pt x="3394" y="6953"/>
                </a:cubicBezTo>
                <a:cubicBezTo>
                  <a:pt x="2965" y="7025"/>
                  <a:pt x="2620" y="7370"/>
                  <a:pt x="2537" y="7787"/>
                </a:cubicBezTo>
                <a:cubicBezTo>
                  <a:pt x="2453" y="8120"/>
                  <a:pt x="2549" y="8454"/>
                  <a:pt x="2751" y="8715"/>
                </a:cubicBezTo>
                <a:cubicBezTo>
                  <a:pt x="2965" y="8965"/>
                  <a:pt x="3275" y="9108"/>
                  <a:pt x="3608" y="9108"/>
                </a:cubicBezTo>
                <a:cubicBezTo>
                  <a:pt x="3930" y="9108"/>
                  <a:pt x="4227" y="8965"/>
                  <a:pt x="4442" y="8715"/>
                </a:cubicBezTo>
                <a:cubicBezTo>
                  <a:pt x="4501" y="8632"/>
                  <a:pt x="4585" y="8608"/>
                  <a:pt x="4692" y="8608"/>
                </a:cubicBezTo>
                <a:lnTo>
                  <a:pt x="5037" y="8608"/>
                </a:lnTo>
                <a:cubicBezTo>
                  <a:pt x="5132" y="8608"/>
                  <a:pt x="5216" y="8680"/>
                  <a:pt x="5216" y="8787"/>
                </a:cubicBezTo>
                <a:lnTo>
                  <a:pt x="5216" y="10501"/>
                </a:lnTo>
                <a:lnTo>
                  <a:pt x="846" y="10501"/>
                </a:lnTo>
                <a:cubicBezTo>
                  <a:pt x="572" y="10501"/>
                  <a:pt x="334" y="10263"/>
                  <a:pt x="334" y="9977"/>
                </a:cubicBezTo>
                <a:lnTo>
                  <a:pt x="334" y="5572"/>
                </a:lnTo>
                <a:lnTo>
                  <a:pt x="2025" y="5572"/>
                </a:lnTo>
                <a:cubicBezTo>
                  <a:pt x="2299" y="5572"/>
                  <a:pt x="2513" y="5346"/>
                  <a:pt x="2513" y="5084"/>
                </a:cubicBezTo>
                <a:lnTo>
                  <a:pt x="2513" y="4727"/>
                </a:lnTo>
                <a:cubicBezTo>
                  <a:pt x="2513" y="4513"/>
                  <a:pt x="2430" y="4334"/>
                  <a:pt x="2299" y="4215"/>
                </a:cubicBezTo>
                <a:cubicBezTo>
                  <a:pt x="2120" y="4072"/>
                  <a:pt x="2013" y="3858"/>
                  <a:pt x="2013" y="3620"/>
                </a:cubicBezTo>
                <a:cubicBezTo>
                  <a:pt x="2013" y="3381"/>
                  <a:pt x="2120" y="3179"/>
                  <a:pt x="2299" y="3024"/>
                </a:cubicBezTo>
                <a:cubicBezTo>
                  <a:pt x="2431" y="2919"/>
                  <a:pt x="2596" y="2858"/>
                  <a:pt x="2769" y="2858"/>
                </a:cubicBezTo>
                <a:close/>
                <a:moveTo>
                  <a:pt x="10014" y="298"/>
                </a:moveTo>
                <a:cubicBezTo>
                  <a:pt x="10300" y="298"/>
                  <a:pt x="10538" y="536"/>
                  <a:pt x="10538" y="822"/>
                </a:cubicBezTo>
                <a:lnTo>
                  <a:pt x="10538" y="5239"/>
                </a:lnTo>
                <a:lnTo>
                  <a:pt x="10312" y="5239"/>
                </a:lnTo>
                <a:cubicBezTo>
                  <a:pt x="10228" y="5239"/>
                  <a:pt x="10157" y="5322"/>
                  <a:pt x="10157" y="5406"/>
                </a:cubicBezTo>
                <a:cubicBezTo>
                  <a:pt x="10157" y="5501"/>
                  <a:pt x="10228" y="5572"/>
                  <a:pt x="10312" y="5572"/>
                </a:cubicBezTo>
                <a:lnTo>
                  <a:pt x="10490" y="5572"/>
                </a:lnTo>
                <a:lnTo>
                  <a:pt x="10490" y="9977"/>
                </a:lnTo>
                <a:cubicBezTo>
                  <a:pt x="10490" y="10263"/>
                  <a:pt x="10252" y="10501"/>
                  <a:pt x="9978" y="10501"/>
                </a:cubicBezTo>
                <a:lnTo>
                  <a:pt x="5573" y="10501"/>
                </a:lnTo>
                <a:lnTo>
                  <a:pt x="5573" y="8799"/>
                </a:lnTo>
                <a:cubicBezTo>
                  <a:pt x="5573" y="8537"/>
                  <a:pt x="5347" y="8311"/>
                  <a:pt x="5073" y="8311"/>
                </a:cubicBezTo>
                <a:lnTo>
                  <a:pt x="4739" y="8311"/>
                </a:lnTo>
                <a:cubicBezTo>
                  <a:pt x="4525" y="8311"/>
                  <a:pt x="4347" y="8394"/>
                  <a:pt x="4227" y="8537"/>
                </a:cubicBezTo>
                <a:cubicBezTo>
                  <a:pt x="4085" y="8715"/>
                  <a:pt x="3870" y="8811"/>
                  <a:pt x="3632" y="8811"/>
                </a:cubicBezTo>
                <a:cubicBezTo>
                  <a:pt x="3394" y="8811"/>
                  <a:pt x="3192" y="8715"/>
                  <a:pt x="3037" y="8537"/>
                </a:cubicBezTo>
                <a:cubicBezTo>
                  <a:pt x="2894" y="8358"/>
                  <a:pt x="2834" y="8120"/>
                  <a:pt x="2894" y="7882"/>
                </a:cubicBezTo>
                <a:cubicBezTo>
                  <a:pt x="2954" y="7584"/>
                  <a:pt x="3204" y="7346"/>
                  <a:pt x="3501" y="7287"/>
                </a:cubicBezTo>
                <a:cubicBezTo>
                  <a:pt x="3557" y="7275"/>
                  <a:pt x="3612" y="7269"/>
                  <a:pt x="3665" y="7269"/>
                </a:cubicBezTo>
                <a:cubicBezTo>
                  <a:pt x="3887" y="7269"/>
                  <a:pt x="4086" y="7367"/>
                  <a:pt x="4239" y="7549"/>
                </a:cubicBezTo>
                <a:cubicBezTo>
                  <a:pt x="4358" y="7703"/>
                  <a:pt x="4561" y="7787"/>
                  <a:pt x="4751" y="7787"/>
                </a:cubicBezTo>
                <a:lnTo>
                  <a:pt x="5097" y="7787"/>
                </a:lnTo>
                <a:cubicBezTo>
                  <a:pt x="5359" y="7787"/>
                  <a:pt x="5585" y="7561"/>
                  <a:pt x="5585" y="7299"/>
                </a:cubicBezTo>
                <a:lnTo>
                  <a:pt x="5585" y="5596"/>
                </a:lnTo>
                <a:lnTo>
                  <a:pt x="7275" y="5596"/>
                </a:lnTo>
                <a:cubicBezTo>
                  <a:pt x="7383" y="5596"/>
                  <a:pt x="7454" y="5679"/>
                  <a:pt x="7454" y="5775"/>
                </a:cubicBezTo>
                <a:lnTo>
                  <a:pt x="7454" y="6120"/>
                </a:lnTo>
                <a:cubicBezTo>
                  <a:pt x="7454" y="6227"/>
                  <a:pt x="7418" y="6310"/>
                  <a:pt x="7335" y="6394"/>
                </a:cubicBezTo>
                <a:cubicBezTo>
                  <a:pt x="7037" y="6644"/>
                  <a:pt x="6894" y="7025"/>
                  <a:pt x="6966" y="7430"/>
                </a:cubicBezTo>
                <a:cubicBezTo>
                  <a:pt x="7037" y="7858"/>
                  <a:pt x="7383" y="8203"/>
                  <a:pt x="7799" y="8299"/>
                </a:cubicBezTo>
                <a:cubicBezTo>
                  <a:pt x="7871" y="8311"/>
                  <a:pt x="7954" y="8323"/>
                  <a:pt x="8037" y="8323"/>
                </a:cubicBezTo>
                <a:cubicBezTo>
                  <a:pt x="8288" y="8323"/>
                  <a:pt x="8526" y="8239"/>
                  <a:pt x="8728" y="8084"/>
                </a:cubicBezTo>
                <a:cubicBezTo>
                  <a:pt x="8978" y="7882"/>
                  <a:pt x="9121" y="7561"/>
                  <a:pt x="9121" y="7239"/>
                </a:cubicBezTo>
                <a:cubicBezTo>
                  <a:pt x="9121" y="6906"/>
                  <a:pt x="8978" y="6608"/>
                  <a:pt x="8728" y="6406"/>
                </a:cubicBezTo>
                <a:cubicBezTo>
                  <a:pt x="8645" y="6346"/>
                  <a:pt x="8621" y="6251"/>
                  <a:pt x="8621" y="6132"/>
                </a:cubicBezTo>
                <a:lnTo>
                  <a:pt x="8621" y="5798"/>
                </a:lnTo>
                <a:cubicBezTo>
                  <a:pt x="8621" y="5691"/>
                  <a:pt x="8692" y="5620"/>
                  <a:pt x="8799" y="5620"/>
                </a:cubicBezTo>
                <a:lnTo>
                  <a:pt x="9645" y="5620"/>
                </a:lnTo>
                <a:cubicBezTo>
                  <a:pt x="9740" y="5620"/>
                  <a:pt x="9812" y="5536"/>
                  <a:pt x="9812" y="5453"/>
                </a:cubicBezTo>
                <a:cubicBezTo>
                  <a:pt x="9812" y="5358"/>
                  <a:pt x="9740" y="5286"/>
                  <a:pt x="9645" y="5286"/>
                </a:cubicBezTo>
                <a:lnTo>
                  <a:pt x="8799" y="5286"/>
                </a:lnTo>
                <a:cubicBezTo>
                  <a:pt x="8526" y="5286"/>
                  <a:pt x="8311" y="5513"/>
                  <a:pt x="8311" y="5775"/>
                </a:cubicBezTo>
                <a:lnTo>
                  <a:pt x="8311" y="6120"/>
                </a:lnTo>
                <a:cubicBezTo>
                  <a:pt x="8311" y="6334"/>
                  <a:pt x="8395" y="6513"/>
                  <a:pt x="8526" y="6632"/>
                </a:cubicBezTo>
                <a:cubicBezTo>
                  <a:pt x="8704" y="6775"/>
                  <a:pt x="8811" y="6989"/>
                  <a:pt x="8811" y="7227"/>
                </a:cubicBezTo>
                <a:cubicBezTo>
                  <a:pt x="8811" y="7465"/>
                  <a:pt x="8704" y="7668"/>
                  <a:pt x="8526" y="7822"/>
                </a:cubicBezTo>
                <a:cubicBezTo>
                  <a:pt x="8394" y="7928"/>
                  <a:pt x="8229" y="7988"/>
                  <a:pt x="8056" y="7988"/>
                </a:cubicBezTo>
                <a:cubicBezTo>
                  <a:pt x="7995" y="7988"/>
                  <a:pt x="7933" y="7981"/>
                  <a:pt x="7871" y="7965"/>
                </a:cubicBezTo>
                <a:cubicBezTo>
                  <a:pt x="7573" y="7906"/>
                  <a:pt x="7335" y="7656"/>
                  <a:pt x="7275" y="7358"/>
                </a:cubicBezTo>
                <a:cubicBezTo>
                  <a:pt x="7216" y="7072"/>
                  <a:pt x="7323" y="6810"/>
                  <a:pt x="7549" y="6608"/>
                </a:cubicBezTo>
                <a:cubicBezTo>
                  <a:pt x="7692" y="6489"/>
                  <a:pt x="7787" y="6298"/>
                  <a:pt x="7787" y="6108"/>
                </a:cubicBezTo>
                <a:lnTo>
                  <a:pt x="7787" y="5763"/>
                </a:lnTo>
                <a:cubicBezTo>
                  <a:pt x="7787" y="5501"/>
                  <a:pt x="7561" y="5275"/>
                  <a:pt x="7287" y="5275"/>
                </a:cubicBezTo>
                <a:lnTo>
                  <a:pt x="5597" y="5275"/>
                </a:lnTo>
                <a:lnTo>
                  <a:pt x="5597" y="3572"/>
                </a:lnTo>
                <a:cubicBezTo>
                  <a:pt x="5597" y="3477"/>
                  <a:pt x="5668" y="3393"/>
                  <a:pt x="5775" y="3393"/>
                </a:cubicBezTo>
                <a:lnTo>
                  <a:pt x="6121" y="3393"/>
                </a:lnTo>
                <a:cubicBezTo>
                  <a:pt x="6216" y="3393"/>
                  <a:pt x="6311" y="3441"/>
                  <a:pt x="6383" y="3512"/>
                </a:cubicBezTo>
                <a:cubicBezTo>
                  <a:pt x="6592" y="3762"/>
                  <a:pt x="6901" y="3911"/>
                  <a:pt x="7234" y="3911"/>
                </a:cubicBezTo>
                <a:cubicBezTo>
                  <a:pt x="7299" y="3911"/>
                  <a:pt x="7364" y="3905"/>
                  <a:pt x="7430" y="3893"/>
                </a:cubicBezTo>
                <a:cubicBezTo>
                  <a:pt x="7859" y="3810"/>
                  <a:pt x="8204" y="3477"/>
                  <a:pt x="8288" y="3060"/>
                </a:cubicBezTo>
                <a:cubicBezTo>
                  <a:pt x="8359" y="2727"/>
                  <a:pt x="8276" y="2381"/>
                  <a:pt x="8061" y="2131"/>
                </a:cubicBezTo>
                <a:cubicBezTo>
                  <a:pt x="7859" y="1881"/>
                  <a:pt x="7549" y="1726"/>
                  <a:pt x="7216" y="1726"/>
                </a:cubicBezTo>
                <a:cubicBezTo>
                  <a:pt x="6894" y="1726"/>
                  <a:pt x="6597" y="1881"/>
                  <a:pt x="6383" y="2131"/>
                </a:cubicBezTo>
                <a:cubicBezTo>
                  <a:pt x="6323" y="2203"/>
                  <a:pt x="6240" y="2238"/>
                  <a:pt x="6132" y="2238"/>
                </a:cubicBezTo>
                <a:lnTo>
                  <a:pt x="5787" y="2238"/>
                </a:lnTo>
                <a:cubicBezTo>
                  <a:pt x="5680" y="2238"/>
                  <a:pt x="5609" y="2167"/>
                  <a:pt x="5609" y="2060"/>
                </a:cubicBezTo>
                <a:lnTo>
                  <a:pt x="5609" y="1215"/>
                </a:lnTo>
                <a:cubicBezTo>
                  <a:pt x="5609" y="1119"/>
                  <a:pt x="5537" y="1048"/>
                  <a:pt x="5442" y="1048"/>
                </a:cubicBezTo>
                <a:cubicBezTo>
                  <a:pt x="5359" y="1048"/>
                  <a:pt x="5287" y="1119"/>
                  <a:pt x="5287" y="1215"/>
                </a:cubicBezTo>
                <a:lnTo>
                  <a:pt x="5287" y="2060"/>
                </a:lnTo>
                <a:cubicBezTo>
                  <a:pt x="5287" y="2322"/>
                  <a:pt x="5501" y="2548"/>
                  <a:pt x="5775" y="2548"/>
                </a:cubicBezTo>
                <a:lnTo>
                  <a:pt x="6121" y="2548"/>
                </a:lnTo>
                <a:cubicBezTo>
                  <a:pt x="6323" y="2548"/>
                  <a:pt x="6502" y="2465"/>
                  <a:pt x="6621" y="2322"/>
                </a:cubicBezTo>
                <a:cubicBezTo>
                  <a:pt x="6775" y="2143"/>
                  <a:pt x="6978" y="2048"/>
                  <a:pt x="7216" y="2048"/>
                </a:cubicBezTo>
                <a:cubicBezTo>
                  <a:pt x="7454" y="2048"/>
                  <a:pt x="7668" y="2143"/>
                  <a:pt x="7811" y="2322"/>
                </a:cubicBezTo>
                <a:cubicBezTo>
                  <a:pt x="7966" y="2500"/>
                  <a:pt x="8026" y="2739"/>
                  <a:pt x="7966" y="2977"/>
                </a:cubicBezTo>
                <a:cubicBezTo>
                  <a:pt x="7907" y="3274"/>
                  <a:pt x="7656" y="3512"/>
                  <a:pt x="7359" y="3572"/>
                </a:cubicBezTo>
                <a:cubicBezTo>
                  <a:pt x="7303" y="3584"/>
                  <a:pt x="7248" y="3589"/>
                  <a:pt x="7193" y="3589"/>
                </a:cubicBezTo>
                <a:cubicBezTo>
                  <a:pt x="6969" y="3589"/>
                  <a:pt x="6762" y="3492"/>
                  <a:pt x="6609" y="3310"/>
                </a:cubicBezTo>
                <a:cubicBezTo>
                  <a:pt x="6490" y="3155"/>
                  <a:pt x="6299" y="3072"/>
                  <a:pt x="6097" y="3072"/>
                </a:cubicBezTo>
                <a:lnTo>
                  <a:pt x="5763" y="3072"/>
                </a:lnTo>
                <a:cubicBezTo>
                  <a:pt x="5490" y="3072"/>
                  <a:pt x="5275" y="3298"/>
                  <a:pt x="5275" y="3560"/>
                </a:cubicBezTo>
                <a:lnTo>
                  <a:pt x="5275" y="5263"/>
                </a:lnTo>
                <a:lnTo>
                  <a:pt x="3573" y="5263"/>
                </a:lnTo>
                <a:cubicBezTo>
                  <a:pt x="3465" y="5263"/>
                  <a:pt x="3394" y="5179"/>
                  <a:pt x="3394" y="5084"/>
                </a:cubicBezTo>
                <a:lnTo>
                  <a:pt x="3394" y="4727"/>
                </a:lnTo>
                <a:cubicBezTo>
                  <a:pt x="3394" y="4620"/>
                  <a:pt x="3442" y="4524"/>
                  <a:pt x="3513" y="4453"/>
                </a:cubicBezTo>
                <a:cubicBezTo>
                  <a:pt x="3811" y="4203"/>
                  <a:pt x="3954" y="3810"/>
                  <a:pt x="3882" y="3417"/>
                </a:cubicBezTo>
                <a:cubicBezTo>
                  <a:pt x="3811" y="2977"/>
                  <a:pt x="3465" y="2643"/>
                  <a:pt x="3049" y="2548"/>
                </a:cubicBezTo>
                <a:cubicBezTo>
                  <a:pt x="2973" y="2531"/>
                  <a:pt x="2896" y="2523"/>
                  <a:pt x="2820" y="2523"/>
                </a:cubicBezTo>
                <a:cubicBezTo>
                  <a:pt x="2570" y="2523"/>
                  <a:pt x="2323" y="2610"/>
                  <a:pt x="2132" y="2774"/>
                </a:cubicBezTo>
                <a:cubicBezTo>
                  <a:pt x="1870" y="2977"/>
                  <a:pt x="1727" y="3298"/>
                  <a:pt x="1727" y="3620"/>
                </a:cubicBezTo>
                <a:cubicBezTo>
                  <a:pt x="1727" y="3941"/>
                  <a:pt x="1870" y="4239"/>
                  <a:pt x="2132" y="4453"/>
                </a:cubicBezTo>
                <a:cubicBezTo>
                  <a:pt x="2203" y="4513"/>
                  <a:pt x="2227" y="4608"/>
                  <a:pt x="2227" y="4703"/>
                </a:cubicBezTo>
                <a:lnTo>
                  <a:pt x="2227" y="5048"/>
                </a:lnTo>
                <a:cubicBezTo>
                  <a:pt x="2227" y="5155"/>
                  <a:pt x="2156" y="5227"/>
                  <a:pt x="2049" y="5227"/>
                </a:cubicBezTo>
                <a:lnTo>
                  <a:pt x="358" y="5227"/>
                </a:lnTo>
                <a:lnTo>
                  <a:pt x="358" y="822"/>
                </a:lnTo>
                <a:cubicBezTo>
                  <a:pt x="358" y="536"/>
                  <a:pt x="596" y="298"/>
                  <a:pt x="882" y="298"/>
                </a:cubicBezTo>
                <a:lnTo>
                  <a:pt x="5287" y="298"/>
                </a:lnTo>
                <a:lnTo>
                  <a:pt x="5287" y="476"/>
                </a:lnTo>
                <a:cubicBezTo>
                  <a:pt x="5287" y="572"/>
                  <a:pt x="5359" y="643"/>
                  <a:pt x="5442" y="643"/>
                </a:cubicBezTo>
                <a:cubicBezTo>
                  <a:pt x="5537" y="643"/>
                  <a:pt x="5609" y="572"/>
                  <a:pt x="5609" y="476"/>
                </a:cubicBezTo>
                <a:lnTo>
                  <a:pt x="5609" y="298"/>
                </a:lnTo>
                <a:close/>
                <a:moveTo>
                  <a:pt x="834" y="0"/>
                </a:moveTo>
                <a:cubicBezTo>
                  <a:pt x="370" y="0"/>
                  <a:pt x="1" y="381"/>
                  <a:pt x="1" y="834"/>
                </a:cubicBezTo>
                <a:lnTo>
                  <a:pt x="1" y="9977"/>
                </a:lnTo>
                <a:cubicBezTo>
                  <a:pt x="1" y="10442"/>
                  <a:pt x="370" y="10811"/>
                  <a:pt x="834" y="10811"/>
                </a:cubicBezTo>
                <a:lnTo>
                  <a:pt x="9978" y="10811"/>
                </a:lnTo>
                <a:cubicBezTo>
                  <a:pt x="10431" y="10811"/>
                  <a:pt x="10812" y="10442"/>
                  <a:pt x="10812" y="9977"/>
                </a:cubicBezTo>
                <a:lnTo>
                  <a:pt x="10812" y="834"/>
                </a:lnTo>
                <a:cubicBezTo>
                  <a:pt x="10812" y="381"/>
                  <a:pt x="10431" y="0"/>
                  <a:pt x="99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6" name="Google Shape;436;p24"/>
          <p:cNvGrpSpPr/>
          <p:nvPr/>
        </p:nvGrpSpPr>
        <p:grpSpPr>
          <a:xfrm>
            <a:off x="1641730" y="2484047"/>
            <a:ext cx="344065" cy="368644"/>
            <a:chOff x="4149138" y="4121151"/>
            <a:chExt cx="344065" cy="368644"/>
          </a:xfrm>
        </p:grpSpPr>
        <p:sp>
          <p:nvSpPr>
            <p:cNvPr id="437" name="Google Shape;437;p24"/>
            <p:cNvSpPr/>
            <p:nvPr/>
          </p:nvSpPr>
          <p:spPr>
            <a:xfrm>
              <a:off x="4205853" y="4182724"/>
              <a:ext cx="225746" cy="307071"/>
            </a:xfrm>
            <a:custGeom>
              <a:avLst/>
              <a:gdLst/>
              <a:ahLst/>
              <a:cxnLst/>
              <a:rect l="l" t="t" r="r" b="b"/>
              <a:pathLst>
                <a:path w="7109" h="9670" extrusionOk="0">
                  <a:moveTo>
                    <a:pt x="3643" y="359"/>
                  </a:moveTo>
                  <a:cubicBezTo>
                    <a:pt x="4417" y="359"/>
                    <a:pt x="5132" y="645"/>
                    <a:pt x="5703" y="1157"/>
                  </a:cubicBezTo>
                  <a:cubicBezTo>
                    <a:pt x="6358" y="1752"/>
                    <a:pt x="6751" y="2597"/>
                    <a:pt x="6751" y="3478"/>
                  </a:cubicBezTo>
                  <a:cubicBezTo>
                    <a:pt x="6739" y="4074"/>
                    <a:pt x="6572" y="4669"/>
                    <a:pt x="6251" y="5157"/>
                  </a:cubicBezTo>
                  <a:cubicBezTo>
                    <a:pt x="5929" y="5645"/>
                    <a:pt x="5489" y="6038"/>
                    <a:pt x="4953" y="6288"/>
                  </a:cubicBezTo>
                  <a:cubicBezTo>
                    <a:pt x="4620" y="6431"/>
                    <a:pt x="4417" y="6776"/>
                    <a:pt x="4417" y="7146"/>
                  </a:cubicBezTo>
                  <a:lnTo>
                    <a:pt x="4417" y="7360"/>
                  </a:lnTo>
                  <a:lnTo>
                    <a:pt x="2834" y="7360"/>
                  </a:lnTo>
                  <a:lnTo>
                    <a:pt x="2834" y="7146"/>
                  </a:lnTo>
                  <a:cubicBezTo>
                    <a:pt x="2834" y="6776"/>
                    <a:pt x="2631" y="6455"/>
                    <a:pt x="2298" y="6288"/>
                  </a:cubicBezTo>
                  <a:cubicBezTo>
                    <a:pt x="1084" y="5705"/>
                    <a:pt x="381" y="4407"/>
                    <a:pt x="548" y="3074"/>
                  </a:cubicBezTo>
                  <a:cubicBezTo>
                    <a:pt x="726" y="1669"/>
                    <a:pt x="1869" y="526"/>
                    <a:pt x="3286" y="383"/>
                  </a:cubicBezTo>
                  <a:cubicBezTo>
                    <a:pt x="3405" y="359"/>
                    <a:pt x="3524" y="359"/>
                    <a:pt x="3643" y="359"/>
                  </a:cubicBezTo>
                  <a:close/>
                  <a:moveTo>
                    <a:pt x="4417" y="7729"/>
                  </a:moveTo>
                  <a:lnTo>
                    <a:pt x="4417" y="8324"/>
                  </a:lnTo>
                  <a:cubicBezTo>
                    <a:pt x="4417" y="8443"/>
                    <a:pt x="4322" y="8539"/>
                    <a:pt x="4203" y="8539"/>
                  </a:cubicBezTo>
                  <a:lnTo>
                    <a:pt x="3048" y="8539"/>
                  </a:lnTo>
                  <a:cubicBezTo>
                    <a:pt x="2929" y="8539"/>
                    <a:pt x="2834" y="8443"/>
                    <a:pt x="2834" y="8324"/>
                  </a:cubicBezTo>
                  <a:lnTo>
                    <a:pt x="2834" y="7729"/>
                  </a:lnTo>
                  <a:close/>
                  <a:moveTo>
                    <a:pt x="4024" y="8896"/>
                  </a:moveTo>
                  <a:lnTo>
                    <a:pt x="4024" y="9098"/>
                  </a:lnTo>
                  <a:cubicBezTo>
                    <a:pt x="4024" y="9217"/>
                    <a:pt x="3941" y="9313"/>
                    <a:pt x="3822" y="9313"/>
                  </a:cubicBezTo>
                  <a:lnTo>
                    <a:pt x="3429" y="9313"/>
                  </a:lnTo>
                  <a:cubicBezTo>
                    <a:pt x="3310" y="9313"/>
                    <a:pt x="3227" y="9217"/>
                    <a:pt x="3227" y="9098"/>
                  </a:cubicBezTo>
                  <a:lnTo>
                    <a:pt x="3227" y="8896"/>
                  </a:lnTo>
                  <a:close/>
                  <a:moveTo>
                    <a:pt x="3658" y="1"/>
                  </a:moveTo>
                  <a:cubicBezTo>
                    <a:pt x="3519" y="1"/>
                    <a:pt x="3379" y="9"/>
                    <a:pt x="3239" y="26"/>
                  </a:cubicBezTo>
                  <a:cubicBezTo>
                    <a:pt x="1667" y="204"/>
                    <a:pt x="381" y="1466"/>
                    <a:pt x="191" y="3026"/>
                  </a:cubicBezTo>
                  <a:cubicBezTo>
                    <a:pt x="0" y="4526"/>
                    <a:pt x="786" y="5979"/>
                    <a:pt x="2155" y="6610"/>
                  </a:cubicBezTo>
                  <a:cubicBezTo>
                    <a:pt x="2358" y="6705"/>
                    <a:pt x="2477" y="6931"/>
                    <a:pt x="2477" y="7146"/>
                  </a:cubicBezTo>
                  <a:lnTo>
                    <a:pt x="2477" y="8324"/>
                  </a:lnTo>
                  <a:cubicBezTo>
                    <a:pt x="2477" y="8574"/>
                    <a:pt x="2643" y="8789"/>
                    <a:pt x="2870" y="8860"/>
                  </a:cubicBezTo>
                  <a:lnTo>
                    <a:pt x="2870" y="9098"/>
                  </a:lnTo>
                  <a:cubicBezTo>
                    <a:pt x="2870" y="9408"/>
                    <a:pt x="3120" y="9670"/>
                    <a:pt x="3429" y="9670"/>
                  </a:cubicBezTo>
                  <a:lnTo>
                    <a:pt x="3822" y="9670"/>
                  </a:lnTo>
                  <a:cubicBezTo>
                    <a:pt x="4132" y="9670"/>
                    <a:pt x="4382" y="9408"/>
                    <a:pt x="4382" y="9098"/>
                  </a:cubicBezTo>
                  <a:lnTo>
                    <a:pt x="4382" y="8860"/>
                  </a:lnTo>
                  <a:cubicBezTo>
                    <a:pt x="4608" y="8789"/>
                    <a:pt x="4775" y="8574"/>
                    <a:pt x="4775" y="8324"/>
                  </a:cubicBezTo>
                  <a:lnTo>
                    <a:pt x="4775" y="7146"/>
                  </a:lnTo>
                  <a:cubicBezTo>
                    <a:pt x="4775" y="6931"/>
                    <a:pt x="4906" y="6717"/>
                    <a:pt x="5096" y="6610"/>
                  </a:cubicBezTo>
                  <a:cubicBezTo>
                    <a:pt x="5691" y="6336"/>
                    <a:pt x="6191" y="5895"/>
                    <a:pt x="6549" y="5348"/>
                  </a:cubicBezTo>
                  <a:cubicBezTo>
                    <a:pt x="6906" y="4788"/>
                    <a:pt x="7096" y="4133"/>
                    <a:pt x="7096" y="3455"/>
                  </a:cubicBezTo>
                  <a:cubicBezTo>
                    <a:pt x="7108" y="2490"/>
                    <a:pt x="6680" y="1538"/>
                    <a:pt x="5953" y="883"/>
                  </a:cubicBezTo>
                  <a:cubicBezTo>
                    <a:pt x="5309" y="310"/>
                    <a:pt x="4506" y="1"/>
                    <a:pt x="36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4"/>
            <p:cNvSpPr/>
            <p:nvPr/>
          </p:nvSpPr>
          <p:spPr>
            <a:xfrm>
              <a:off x="4444777" y="4287484"/>
              <a:ext cx="48426" cy="11400"/>
            </a:xfrm>
            <a:custGeom>
              <a:avLst/>
              <a:gdLst/>
              <a:ahLst/>
              <a:cxnLst/>
              <a:rect l="l" t="t" r="r" b="b"/>
              <a:pathLst>
                <a:path w="1525" h="359" extrusionOk="0">
                  <a:moveTo>
                    <a:pt x="180" y="1"/>
                  </a:moveTo>
                  <a:cubicBezTo>
                    <a:pt x="72" y="1"/>
                    <a:pt x="1" y="72"/>
                    <a:pt x="1" y="179"/>
                  </a:cubicBezTo>
                  <a:cubicBezTo>
                    <a:pt x="1" y="275"/>
                    <a:pt x="72" y="358"/>
                    <a:pt x="180" y="358"/>
                  </a:cubicBezTo>
                  <a:lnTo>
                    <a:pt x="1346" y="358"/>
                  </a:lnTo>
                  <a:cubicBezTo>
                    <a:pt x="1442" y="358"/>
                    <a:pt x="1525" y="275"/>
                    <a:pt x="1525" y="179"/>
                  </a:cubicBezTo>
                  <a:cubicBezTo>
                    <a:pt x="1525" y="72"/>
                    <a:pt x="1430" y="1"/>
                    <a:pt x="13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4"/>
            <p:cNvSpPr/>
            <p:nvPr/>
          </p:nvSpPr>
          <p:spPr>
            <a:xfrm>
              <a:off x="4149138" y="4287484"/>
              <a:ext cx="48426" cy="11400"/>
            </a:xfrm>
            <a:custGeom>
              <a:avLst/>
              <a:gdLst/>
              <a:ahLst/>
              <a:cxnLst/>
              <a:rect l="l" t="t" r="r" b="b"/>
              <a:pathLst>
                <a:path w="1525" h="359" extrusionOk="0">
                  <a:moveTo>
                    <a:pt x="179" y="1"/>
                  </a:moveTo>
                  <a:cubicBezTo>
                    <a:pt x="72" y="1"/>
                    <a:pt x="0" y="72"/>
                    <a:pt x="0" y="179"/>
                  </a:cubicBezTo>
                  <a:cubicBezTo>
                    <a:pt x="0" y="275"/>
                    <a:pt x="72" y="358"/>
                    <a:pt x="179" y="358"/>
                  </a:cubicBezTo>
                  <a:lnTo>
                    <a:pt x="1334" y="358"/>
                  </a:lnTo>
                  <a:cubicBezTo>
                    <a:pt x="1441" y="358"/>
                    <a:pt x="1512" y="275"/>
                    <a:pt x="1512" y="179"/>
                  </a:cubicBezTo>
                  <a:cubicBezTo>
                    <a:pt x="1524" y="72"/>
                    <a:pt x="1441" y="1"/>
                    <a:pt x="1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4"/>
            <p:cNvSpPr/>
            <p:nvPr/>
          </p:nvSpPr>
          <p:spPr>
            <a:xfrm>
              <a:off x="4315471" y="4121151"/>
              <a:ext cx="11400" cy="48045"/>
            </a:xfrm>
            <a:custGeom>
              <a:avLst/>
              <a:gdLst/>
              <a:ahLst/>
              <a:cxnLst/>
              <a:rect l="l" t="t" r="r" b="b"/>
              <a:pathLst>
                <a:path w="359" h="1513" extrusionOk="0">
                  <a:moveTo>
                    <a:pt x="180" y="0"/>
                  </a:moveTo>
                  <a:cubicBezTo>
                    <a:pt x="72" y="0"/>
                    <a:pt x="1" y="72"/>
                    <a:pt x="1" y="179"/>
                  </a:cubicBezTo>
                  <a:lnTo>
                    <a:pt x="1" y="1334"/>
                  </a:lnTo>
                  <a:cubicBezTo>
                    <a:pt x="1" y="1441"/>
                    <a:pt x="72" y="1512"/>
                    <a:pt x="180" y="1512"/>
                  </a:cubicBezTo>
                  <a:cubicBezTo>
                    <a:pt x="275" y="1512"/>
                    <a:pt x="358" y="1441"/>
                    <a:pt x="358" y="1334"/>
                  </a:cubicBezTo>
                  <a:lnTo>
                    <a:pt x="358" y="179"/>
                  </a:lnTo>
                  <a:cubicBezTo>
                    <a:pt x="358" y="72"/>
                    <a:pt x="275"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4"/>
            <p:cNvSpPr/>
            <p:nvPr/>
          </p:nvSpPr>
          <p:spPr>
            <a:xfrm>
              <a:off x="4378632" y="4159575"/>
              <a:ext cx="22705" cy="27754"/>
            </a:xfrm>
            <a:custGeom>
              <a:avLst/>
              <a:gdLst/>
              <a:ahLst/>
              <a:cxnLst/>
              <a:rect l="l" t="t" r="r" b="b"/>
              <a:pathLst>
                <a:path w="715" h="874" extrusionOk="0">
                  <a:moveTo>
                    <a:pt x="513" y="0"/>
                  </a:moveTo>
                  <a:cubicBezTo>
                    <a:pt x="451" y="0"/>
                    <a:pt x="387" y="27"/>
                    <a:pt x="346" y="76"/>
                  </a:cubicBezTo>
                  <a:lnTo>
                    <a:pt x="48" y="588"/>
                  </a:lnTo>
                  <a:cubicBezTo>
                    <a:pt x="0" y="671"/>
                    <a:pt x="24" y="778"/>
                    <a:pt x="107" y="838"/>
                  </a:cubicBezTo>
                  <a:cubicBezTo>
                    <a:pt x="131" y="850"/>
                    <a:pt x="167" y="874"/>
                    <a:pt x="191" y="874"/>
                  </a:cubicBezTo>
                  <a:cubicBezTo>
                    <a:pt x="250" y="874"/>
                    <a:pt x="310" y="838"/>
                    <a:pt x="358" y="778"/>
                  </a:cubicBezTo>
                  <a:lnTo>
                    <a:pt x="655" y="278"/>
                  </a:lnTo>
                  <a:cubicBezTo>
                    <a:pt x="715" y="171"/>
                    <a:pt x="691" y="64"/>
                    <a:pt x="596" y="16"/>
                  </a:cubicBezTo>
                  <a:cubicBezTo>
                    <a:pt x="570" y="5"/>
                    <a:pt x="542" y="0"/>
                    <a:pt x="5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4"/>
            <p:cNvSpPr/>
            <p:nvPr/>
          </p:nvSpPr>
          <p:spPr>
            <a:xfrm>
              <a:off x="4240243" y="4399103"/>
              <a:ext cx="22705" cy="27563"/>
            </a:xfrm>
            <a:custGeom>
              <a:avLst/>
              <a:gdLst/>
              <a:ahLst/>
              <a:cxnLst/>
              <a:rect l="l" t="t" r="r" b="b"/>
              <a:pathLst>
                <a:path w="715" h="868" extrusionOk="0">
                  <a:moveTo>
                    <a:pt x="507" y="0"/>
                  </a:moveTo>
                  <a:cubicBezTo>
                    <a:pt x="444" y="0"/>
                    <a:pt x="387" y="33"/>
                    <a:pt x="346" y="82"/>
                  </a:cubicBezTo>
                  <a:lnTo>
                    <a:pt x="48" y="594"/>
                  </a:lnTo>
                  <a:cubicBezTo>
                    <a:pt x="1" y="677"/>
                    <a:pt x="24" y="784"/>
                    <a:pt x="108" y="844"/>
                  </a:cubicBezTo>
                  <a:cubicBezTo>
                    <a:pt x="132" y="855"/>
                    <a:pt x="155" y="867"/>
                    <a:pt x="191" y="867"/>
                  </a:cubicBezTo>
                  <a:cubicBezTo>
                    <a:pt x="251" y="867"/>
                    <a:pt x="310" y="844"/>
                    <a:pt x="358" y="784"/>
                  </a:cubicBezTo>
                  <a:lnTo>
                    <a:pt x="655" y="272"/>
                  </a:lnTo>
                  <a:cubicBezTo>
                    <a:pt x="715" y="189"/>
                    <a:pt x="679" y="82"/>
                    <a:pt x="596" y="22"/>
                  </a:cubicBezTo>
                  <a:cubicBezTo>
                    <a:pt x="566" y="7"/>
                    <a:pt x="536" y="0"/>
                    <a:pt x="5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4"/>
            <p:cNvSpPr/>
            <p:nvPr/>
          </p:nvSpPr>
          <p:spPr>
            <a:xfrm>
              <a:off x="4240243" y="4159130"/>
              <a:ext cx="22705" cy="28198"/>
            </a:xfrm>
            <a:custGeom>
              <a:avLst/>
              <a:gdLst/>
              <a:ahLst/>
              <a:cxnLst/>
              <a:rect l="l" t="t" r="r" b="b"/>
              <a:pathLst>
                <a:path w="715" h="888" extrusionOk="0">
                  <a:moveTo>
                    <a:pt x="213" y="1"/>
                  </a:moveTo>
                  <a:cubicBezTo>
                    <a:pt x="181" y="1"/>
                    <a:pt x="148" y="10"/>
                    <a:pt x="120" y="30"/>
                  </a:cubicBezTo>
                  <a:cubicBezTo>
                    <a:pt x="24" y="78"/>
                    <a:pt x="1" y="197"/>
                    <a:pt x="60" y="292"/>
                  </a:cubicBezTo>
                  <a:lnTo>
                    <a:pt x="358" y="792"/>
                  </a:lnTo>
                  <a:cubicBezTo>
                    <a:pt x="382" y="852"/>
                    <a:pt x="441" y="888"/>
                    <a:pt x="525" y="888"/>
                  </a:cubicBezTo>
                  <a:cubicBezTo>
                    <a:pt x="548" y="888"/>
                    <a:pt x="584" y="864"/>
                    <a:pt x="608" y="852"/>
                  </a:cubicBezTo>
                  <a:cubicBezTo>
                    <a:pt x="679" y="792"/>
                    <a:pt x="715" y="685"/>
                    <a:pt x="667" y="602"/>
                  </a:cubicBezTo>
                  <a:lnTo>
                    <a:pt x="370" y="90"/>
                  </a:lnTo>
                  <a:cubicBezTo>
                    <a:pt x="338" y="35"/>
                    <a:pt x="276" y="1"/>
                    <a:pt x="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4"/>
            <p:cNvSpPr/>
            <p:nvPr/>
          </p:nvSpPr>
          <p:spPr>
            <a:xfrm>
              <a:off x="4378632" y="4399230"/>
              <a:ext cx="22705" cy="28198"/>
            </a:xfrm>
            <a:custGeom>
              <a:avLst/>
              <a:gdLst/>
              <a:ahLst/>
              <a:cxnLst/>
              <a:rect l="l" t="t" r="r" b="b"/>
              <a:pathLst>
                <a:path w="715" h="888" extrusionOk="0">
                  <a:moveTo>
                    <a:pt x="221" y="0"/>
                  </a:moveTo>
                  <a:cubicBezTo>
                    <a:pt x="187" y="0"/>
                    <a:pt x="152" y="10"/>
                    <a:pt x="119" y="30"/>
                  </a:cubicBezTo>
                  <a:cubicBezTo>
                    <a:pt x="24" y="78"/>
                    <a:pt x="0" y="197"/>
                    <a:pt x="60" y="292"/>
                  </a:cubicBezTo>
                  <a:lnTo>
                    <a:pt x="358" y="792"/>
                  </a:lnTo>
                  <a:cubicBezTo>
                    <a:pt x="393" y="851"/>
                    <a:pt x="453" y="887"/>
                    <a:pt x="524" y="887"/>
                  </a:cubicBezTo>
                  <a:cubicBezTo>
                    <a:pt x="548" y="887"/>
                    <a:pt x="584" y="863"/>
                    <a:pt x="608" y="851"/>
                  </a:cubicBezTo>
                  <a:cubicBezTo>
                    <a:pt x="691" y="792"/>
                    <a:pt x="715" y="673"/>
                    <a:pt x="667" y="601"/>
                  </a:cubicBezTo>
                  <a:lnTo>
                    <a:pt x="369" y="89"/>
                  </a:lnTo>
                  <a:cubicBezTo>
                    <a:pt x="346" y="35"/>
                    <a:pt x="286"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4"/>
            <p:cNvSpPr/>
            <p:nvPr/>
          </p:nvSpPr>
          <p:spPr>
            <a:xfrm>
              <a:off x="4426264" y="4351851"/>
              <a:ext cx="29532" cy="21117"/>
            </a:xfrm>
            <a:custGeom>
              <a:avLst/>
              <a:gdLst/>
              <a:ahLst/>
              <a:cxnLst/>
              <a:rect l="l" t="t" r="r" b="b"/>
              <a:pathLst>
                <a:path w="930" h="665" extrusionOk="0">
                  <a:moveTo>
                    <a:pt x="215" y="0"/>
                  </a:moveTo>
                  <a:cubicBezTo>
                    <a:pt x="152" y="0"/>
                    <a:pt x="89" y="32"/>
                    <a:pt x="48" y="81"/>
                  </a:cubicBezTo>
                  <a:cubicBezTo>
                    <a:pt x="1" y="177"/>
                    <a:pt x="36" y="272"/>
                    <a:pt x="108" y="331"/>
                  </a:cubicBezTo>
                  <a:lnTo>
                    <a:pt x="608" y="629"/>
                  </a:lnTo>
                  <a:cubicBezTo>
                    <a:pt x="643" y="653"/>
                    <a:pt x="667" y="665"/>
                    <a:pt x="703" y="665"/>
                  </a:cubicBezTo>
                  <a:cubicBezTo>
                    <a:pt x="763" y="665"/>
                    <a:pt x="822" y="629"/>
                    <a:pt x="870" y="569"/>
                  </a:cubicBezTo>
                  <a:cubicBezTo>
                    <a:pt x="929" y="486"/>
                    <a:pt x="893" y="367"/>
                    <a:pt x="810" y="319"/>
                  </a:cubicBezTo>
                  <a:lnTo>
                    <a:pt x="298" y="22"/>
                  </a:lnTo>
                  <a:cubicBezTo>
                    <a:pt x="272" y="7"/>
                    <a:pt x="244" y="0"/>
                    <a:pt x="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4"/>
            <p:cNvSpPr/>
            <p:nvPr/>
          </p:nvSpPr>
          <p:spPr>
            <a:xfrm>
              <a:off x="4186196" y="4213463"/>
              <a:ext cx="29500" cy="21117"/>
            </a:xfrm>
            <a:custGeom>
              <a:avLst/>
              <a:gdLst/>
              <a:ahLst/>
              <a:cxnLst/>
              <a:rect l="l" t="t" r="r" b="b"/>
              <a:pathLst>
                <a:path w="929" h="665" extrusionOk="0">
                  <a:moveTo>
                    <a:pt x="214" y="0"/>
                  </a:moveTo>
                  <a:cubicBezTo>
                    <a:pt x="152" y="0"/>
                    <a:pt x="89" y="33"/>
                    <a:pt x="48" y="82"/>
                  </a:cubicBezTo>
                  <a:cubicBezTo>
                    <a:pt x="0" y="165"/>
                    <a:pt x="36" y="272"/>
                    <a:pt x="107" y="332"/>
                  </a:cubicBezTo>
                  <a:lnTo>
                    <a:pt x="619" y="629"/>
                  </a:lnTo>
                  <a:cubicBezTo>
                    <a:pt x="643" y="641"/>
                    <a:pt x="667" y="665"/>
                    <a:pt x="703" y="665"/>
                  </a:cubicBezTo>
                  <a:cubicBezTo>
                    <a:pt x="762" y="665"/>
                    <a:pt x="822" y="629"/>
                    <a:pt x="869" y="570"/>
                  </a:cubicBezTo>
                  <a:cubicBezTo>
                    <a:pt x="929" y="463"/>
                    <a:pt x="893" y="367"/>
                    <a:pt x="810" y="320"/>
                  </a:cubicBezTo>
                  <a:lnTo>
                    <a:pt x="298" y="22"/>
                  </a:lnTo>
                  <a:cubicBezTo>
                    <a:pt x="272" y="7"/>
                    <a:pt x="243" y="0"/>
                    <a:pt x="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4"/>
            <p:cNvSpPr/>
            <p:nvPr/>
          </p:nvSpPr>
          <p:spPr>
            <a:xfrm>
              <a:off x="4425883" y="4213590"/>
              <a:ext cx="29913" cy="21371"/>
            </a:xfrm>
            <a:custGeom>
              <a:avLst/>
              <a:gdLst/>
              <a:ahLst/>
              <a:cxnLst/>
              <a:rect l="l" t="t" r="r" b="b"/>
              <a:pathLst>
                <a:path w="942" h="673" extrusionOk="0">
                  <a:moveTo>
                    <a:pt x="725" y="0"/>
                  </a:moveTo>
                  <a:cubicBezTo>
                    <a:pt x="693" y="0"/>
                    <a:pt x="660" y="10"/>
                    <a:pt x="632" y="30"/>
                  </a:cubicBezTo>
                  <a:lnTo>
                    <a:pt x="120" y="328"/>
                  </a:lnTo>
                  <a:cubicBezTo>
                    <a:pt x="36" y="375"/>
                    <a:pt x="1" y="494"/>
                    <a:pt x="60" y="578"/>
                  </a:cubicBezTo>
                  <a:cubicBezTo>
                    <a:pt x="96" y="637"/>
                    <a:pt x="155" y="673"/>
                    <a:pt x="227" y="673"/>
                  </a:cubicBezTo>
                  <a:cubicBezTo>
                    <a:pt x="251" y="673"/>
                    <a:pt x="286" y="661"/>
                    <a:pt x="310" y="637"/>
                  </a:cubicBezTo>
                  <a:lnTo>
                    <a:pt x="822" y="340"/>
                  </a:lnTo>
                  <a:cubicBezTo>
                    <a:pt x="905" y="280"/>
                    <a:pt x="941" y="161"/>
                    <a:pt x="882" y="89"/>
                  </a:cubicBezTo>
                  <a:cubicBezTo>
                    <a:pt x="850" y="35"/>
                    <a:pt x="788"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4"/>
            <p:cNvSpPr/>
            <p:nvPr/>
          </p:nvSpPr>
          <p:spPr>
            <a:xfrm>
              <a:off x="4186196" y="4351978"/>
              <a:ext cx="29500" cy="21371"/>
            </a:xfrm>
            <a:custGeom>
              <a:avLst/>
              <a:gdLst/>
              <a:ahLst/>
              <a:cxnLst/>
              <a:rect l="l" t="t" r="r" b="b"/>
              <a:pathLst>
                <a:path w="929" h="673" extrusionOk="0">
                  <a:moveTo>
                    <a:pt x="725" y="0"/>
                  </a:moveTo>
                  <a:cubicBezTo>
                    <a:pt x="692" y="0"/>
                    <a:pt x="660" y="9"/>
                    <a:pt x="631" y="30"/>
                  </a:cubicBezTo>
                  <a:lnTo>
                    <a:pt x="119" y="327"/>
                  </a:lnTo>
                  <a:cubicBezTo>
                    <a:pt x="36" y="375"/>
                    <a:pt x="0" y="494"/>
                    <a:pt x="60" y="589"/>
                  </a:cubicBezTo>
                  <a:cubicBezTo>
                    <a:pt x="95" y="649"/>
                    <a:pt x="155" y="673"/>
                    <a:pt x="226" y="673"/>
                  </a:cubicBezTo>
                  <a:cubicBezTo>
                    <a:pt x="262" y="673"/>
                    <a:pt x="286" y="661"/>
                    <a:pt x="322" y="649"/>
                  </a:cubicBezTo>
                  <a:lnTo>
                    <a:pt x="822" y="351"/>
                  </a:lnTo>
                  <a:cubicBezTo>
                    <a:pt x="893" y="292"/>
                    <a:pt x="929" y="173"/>
                    <a:pt x="881" y="89"/>
                  </a:cubicBezTo>
                  <a:cubicBezTo>
                    <a:pt x="850" y="34"/>
                    <a:pt x="787"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 name="Google Shape;454;p24"/>
          <p:cNvSpPr/>
          <p:nvPr/>
        </p:nvSpPr>
        <p:spPr>
          <a:xfrm>
            <a:off x="7158151" y="2450291"/>
            <a:ext cx="344097" cy="34003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5" name="Google Shape;455;p24"/>
          <p:cNvCxnSpPr>
            <a:stCxn id="400" idx="2"/>
          </p:cNvCxnSpPr>
          <p:nvPr/>
        </p:nvCxnSpPr>
        <p:spPr>
          <a:xfrm rot="5400000">
            <a:off x="28687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7" name="Google Shape;457;p24"/>
          <p:cNvCxnSpPr/>
          <p:nvPr/>
        </p:nvCxnSpPr>
        <p:spPr>
          <a:xfrm>
            <a:off x="3652585" y="1959625"/>
            <a:ext cx="974483" cy="324150"/>
          </a:xfrm>
          <a:prstGeom prst="bentConnector3">
            <a:avLst>
              <a:gd name="adj1" fmla="val 95959"/>
            </a:avLst>
          </a:prstGeom>
          <a:noFill/>
          <a:ln w="19050" cap="flat" cmpd="sng">
            <a:solidFill>
              <a:schemeClr val="lt2"/>
            </a:solidFill>
            <a:prstDash val="solid"/>
            <a:round/>
            <a:headEnd type="none" w="med" len="med"/>
            <a:tailEnd type="oval" w="med" len="med"/>
          </a:ln>
        </p:spPr>
      </p:cxnSp>
      <p:cxnSp>
        <p:nvCxnSpPr>
          <p:cNvPr id="458" name="Google Shape;458;p24"/>
          <p:cNvCxnSpPr>
            <a:stCxn id="400" idx="2"/>
          </p:cNvCxnSpPr>
          <p:nvPr/>
        </p:nvCxnSpPr>
        <p:spPr>
          <a:xfrm rot="-5400000" flipH="1">
            <a:off x="56269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grpSp>
        <p:nvGrpSpPr>
          <p:cNvPr id="74" name="Google Shape;403;p24"/>
          <p:cNvGrpSpPr/>
          <p:nvPr/>
        </p:nvGrpSpPr>
        <p:grpSpPr>
          <a:xfrm>
            <a:off x="3247967" y="3033780"/>
            <a:ext cx="2648063" cy="888205"/>
            <a:chOff x="486577" y="3511858"/>
            <a:chExt cx="2648063" cy="888205"/>
          </a:xfrm>
        </p:grpSpPr>
        <p:sp>
          <p:nvSpPr>
            <p:cNvPr id="75" name="Google Shape;404;p24"/>
            <p:cNvSpPr txBox="1"/>
            <p:nvPr/>
          </p:nvSpPr>
          <p:spPr>
            <a:xfrm>
              <a:off x="486577" y="3915563"/>
              <a:ext cx="2648063" cy="4845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Can machine learning models accurately predict key performance metrics such as Signal-to-Noise Ratio (SNR) and </a:t>
              </a:r>
              <a:r>
                <a:rPr lang="en-US" dirty="0" smtClean="0">
                  <a:solidFill>
                    <a:schemeClr val="lt2"/>
                  </a:solidFill>
                  <a:latin typeface="Fira Sans Condensed"/>
                  <a:ea typeface="Fira Sans Condensed"/>
                  <a:cs typeface="Fira Sans Condensed"/>
                  <a:sym typeface="Fira Sans Condensed"/>
                </a:rPr>
                <a:t>Bit Error </a:t>
              </a:r>
              <a:r>
                <a:rPr lang="en-US" dirty="0">
                  <a:solidFill>
                    <a:schemeClr val="lt2"/>
                  </a:solidFill>
                  <a:latin typeface="Fira Sans Condensed"/>
                  <a:ea typeface="Fira Sans Condensed"/>
                  <a:cs typeface="Fira Sans Condensed"/>
                  <a:sym typeface="Fira Sans Condensed"/>
                </a:rPr>
                <a:t>Rate (BER)?</a:t>
              </a:r>
              <a:endParaRPr lang="en-US" dirty="0">
                <a:solidFill>
                  <a:schemeClr val="lt2"/>
                </a:solidFill>
                <a:latin typeface="Fira Sans Condensed"/>
                <a:ea typeface="Fira Sans Condensed"/>
                <a:cs typeface="Fira Sans Condensed"/>
                <a:sym typeface="Fira Sans Condensed"/>
              </a:endParaRPr>
            </a:p>
          </p:txBody>
        </p:sp>
        <p:sp>
          <p:nvSpPr>
            <p:cNvPr id="76" name="Google Shape;405;p24"/>
            <p:cNvSpPr txBox="1"/>
            <p:nvPr/>
          </p:nvSpPr>
          <p:spPr>
            <a:xfrm>
              <a:off x="1078463" y="3511858"/>
              <a:ext cx="1470600" cy="457200"/>
            </a:xfrm>
            <a:prstGeom prst="rect">
              <a:avLst/>
            </a:prstGeom>
            <a:noFill/>
            <a:ln>
              <a:noFill/>
            </a:ln>
          </p:spPr>
          <p:txBody>
            <a:bodyPr spcFirstLastPara="1" wrap="square" lIns="91425" tIns="91425" rIns="91425" bIns="91425" anchor="b" anchorCtr="0">
              <a:noAutofit/>
            </a:bodyPr>
            <a:lstStyle/>
            <a:p>
              <a:pPr lvl="0" algn="ctr"/>
              <a:r>
                <a:rPr lang="en-US" sz="2400" b="1" dirty="0">
                  <a:solidFill>
                    <a:schemeClr val="lt2"/>
                  </a:solidFill>
                  <a:latin typeface="Rajdhani"/>
                  <a:ea typeface="Rajdhani"/>
                  <a:cs typeface="Rajdhani"/>
                  <a:sym typeface="Rajdhani"/>
                </a:rPr>
                <a:t>Q2</a:t>
              </a:r>
              <a:endParaRPr sz="2400" b="1" dirty="0">
                <a:solidFill>
                  <a:schemeClr val="lt2"/>
                </a:solidFill>
                <a:latin typeface="Rajdhani"/>
                <a:ea typeface="Rajdhani"/>
                <a:cs typeface="Rajdhani"/>
                <a:sym typeface="Rajdhani"/>
              </a:endParaRPr>
            </a:p>
          </p:txBody>
        </p:sp>
      </p:grpSp>
      <p:grpSp>
        <p:nvGrpSpPr>
          <p:cNvPr id="80" name="Google Shape;403;p24"/>
          <p:cNvGrpSpPr/>
          <p:nvPr/>
        </p:nvGrpSpPr>
        <p:grpSpPr>
          <a:xfrm>
            <a:off x="6200292" y="3034414"/>
            <a:ext cx="2259814" cy="916239"/>
            <a:chOff x="681411" y="3373299"/>
            <a:chExt cx="2259814" cy="916239"/>
          </a:xfrm>
        </p:grpSpPr>
        <p:sp>
          <p:nvSpPr>
            <p:cNvPr id="81" name="Google Shape;404;p24"/>
            <p:cNvSpPr txBox="1"/>
            <p:nvPr/>
          </p:nvSpPr>
          <p:spPr>
            <a:xfrm>
              <a:off x="681411" y="3805038"/>
              <a:ext cx="2259814" cy="484500"/>
            </a:xfrm>
            <a:prstGeom prst="rect">
              <a:avLst/>
            </a:prstGeom>
            <a:noFill/>
            <a:ln>
              <a:noFill/>
            </a:ln>
          </p:spPr>
          <p:txBody>
            <a:bodyPr spcFirstLastPara="1" wrap="square" lIns="91425" tIns="91425" rIns="91425" bIns="91425" anchor="t" anchorCtr="0">
              <a:noAutofit/>
            </a:bodyPr>
            <a:lstStyle/>
            <a:p>
              <a:pPr lvl="0" algn="ctr"/>
              <a:r>
                <a:rPr lang="en-US" dirty="0">
                  <a:solidFill>
                    <a:schemeClr val="lt2"/>
                  </a:solidFill>
                  <a:latin typeface="Fira Sans Condensed"/>
                  <a:ea typeface="Fira Sans Condensed"/>
                  <a:cs typeface="Fira Sans Condensed"/>
                  <a:sym typeface="Fira Sans Condensed"/>
                </a:rPr>
                <a:t>How effective is the proposed machine learning approach compared to traditional analytical models in modeling </a:t>
              </a:r>
              <a:r>
                <a:rPr lang="en-US" dirty="0" smtClean="0">
                  <a:solidFill>
                    <a:schemeClr val="lt2"/>
                  </a:solidFill>
                  <a:latin typeface="Fira Sans Condensed"/>
                  <a:ea typeface="Fira Sans Condensed"/>
                  <a:cs typeface="Fira Sans Condensed"/>
                  <a:sym typeface="Fira Sans Condensed"/>
                </a:rPr>
                <a:t>UVC channels</a:t>
              </a:r>
              <a:r>
                <a:rPr lang="en-US" dirty="0">
                  <a:solidFill>
                    <a:schemeClr val="lt2"/>
                  </a:solidFill>
                  <a:latin typeface="Fira Sans Condensed"/>
                  <a:ea typeface="Fira Sans Condensed"/>
                  <a:cs typeface="Fira Sans Condensed"/>
                  <a:sym typeface="Fira Sans Condensed"/>
                </a:rPr>
                <a:t>?</a:t>
              </a:r>
              <a:endParaRPr lang="en-US" dirty="0">
                <a:solidFill>
                  <a:schemeClr val="lt2"/>
                </a:solidFill>
                <a:latin typeface="Fira Sans Condensed"/>
                <a:ea typeface="Fira Sans Condensed"/>
                <a:cs typeface="Fira Sans Condensed"/>
                <a:sym typeface="Fira Sans Condensed"/>
              </a:endParaRPr>
            </a:p>
          </p:txBody>
        </p:sp>
        <p:sp>
          <p:nvSpPr>
            <p:cNvPr id="82" name="Google Shape;405;p24"/>
            <p:cNvSpPr txBox="1"/>
            <p:nvPr/>
          </p:nvSpPr>
          <p:spPr>
            <a:xfrm>
              <a:off x="1076018" y="3373299"/>
              <a:ext cx="1470600" cy="457200"/>
            </a:xfrm>
            <a:prstGeom prst="rect">
              <a:avLst/>
            </a:prstGeom>
            <a:noFill/>
            <a:ln>
              <a:noFill/>
            </a:ln>
          </p:spPr>
          <p:txBody>
            <a:bodyPr spcFirstLastPara="1" wrap="square" lIns="91425" tIns="91425" rIns="91425" bIns="91425" anchor="b" anchorCtr="0">
              <a:noAutofit/>
            </a:bodyPr>
            <a:lstStyle/>
            <a:p>
              <a:pPr lvl="0" algn="ctr"/>
              <a:r>
                <a:rPr lang="en-US" sz="2400" b="1" dirty="0">
                  <a:solidFill>
                    <a:schemeClr val="lt2"/>
                  </a:solidFill>
                  <a:latin typeface="Rajdhani"/>
                  <a:ea typeface="Rajdhani"/>
                  <a:cs typeface="Rajdhani"/>
                  <a:sym typeface="Rajdhani"/>
                </a:rPr>
                <a:t>Q3</a:t>
              </a:r>
              <a:endParaRPr sz="2400" b="1" dirty="0">
                <a:solidFill>
                  <a:schemeClr val="lt2"/>
                </a:solidFill>
                <a:latin typeface="Rajdhani"/>
                <a:ea typeface="Rajdhani"/>
                <a:cs typeface="Rajdhani"/>
                <a:sym typeface="Rajdhani"/>
              </a:endParaRPr>
            </a:p>
          </p:txBody>
        </p:sp>
      </p:grpSp>
    </p:spTree>
    <p:extLst>
      <p:ext uri="{BB962C8B-B14F-4D97-AF65-F5344CB8AC3E}">
        <p14:creationId xmlns:p14="http://schemas.microsoft.com/office/powerpoint/2010/main" val="34694930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6"/>
          <p:cNvSpPr txBox="1">
            <a:spLocks noGrp="1"/>
          </p:cNvSpPr>
          <p:nvPr>
            <p:ph type="title"/>
          </p:nvPr>
        </p:nvSpPr>
        <p:spPr>
          <a:xfrm>
            <a:off x="719999" y="6772"/>
            <a:ext cx="7704000" cy="572700"/>
          </a:xfrm>
          <a:prstGeom prst="rect">
            <a:avLst/>
          </a:prstGeom>
        </p:spPr>
        <p:txBody>
          <a:bodyPr spcFirstLastPara="1" wrap="square" lIns="91425" tIns="91425" rIns="91425" bIns="91425" anchor="t" anchorCtr="0">
            <a:noAutofit/>
          </a:bodyPr>
          <a:lstStyle/>
          <a:p>
            <a:pPr lvl="0"/>
            <a:r>
              <a:rPr lang="en-US" dirty="0"/>
              <a:t>Ultraviolet </a:t>
            </a:r>
            <a:r>
              <a:rPr lang="en-US" dirty="0" smtClean="0"/>
              <a:t>communication</a:t>
            </a:r>
            <a:r>
              <a:rPr lang="ar-SA" dirty="0" smtClean="0"/>
              <a:t> </a:t>
            </a:r>
            <a:r>
              <a:rPr lang="en-US" dirty="0" smtClean="0"/>
              <a:t>and </a:t>
            </a:r>
            <a:r>
              <a:rPr lang="en-US" dirty="0"/>
              <a:t>Machine Learning </a:t>
            </a:r>
            <a:r>
              <a:rPr lang="en-US" dirty="0" smtClean="0"/>
              <a:t>Integration</a:t>
            </a:r>
            <a:endParaRPr lang="en-US" dirty="0"/>
          </a:p>
        </p:txBody>
      </p:sp>
      <p:pic>
        <p:nvPicPr>
          <p:cNvPr id="495" name="Google Shape;495;p26"/>
          <p:cNvPicPr preferRelativeResize="0"/>
          <p:nvPr/>
        </p:nvPicPr>
        <p:blipFill>
          <a:blip r:embed="rId3">
            <a:alphaModFix/>
          </a:blip>
          <a:stretch>
            <a:fillRect/>
          </a:stretch>
        </p:blipFill>
        <p:spPr>
          <a:xfrm>
            <a:off x="3068100" y="2008721"/>
            <a:ext cx="2936863" cy="1754342"/>
          </a:xfrm>
          <a:prstGeom prst="rect">
            <a:avLst/>
          </a:prstGeom>
          <a:noFill/>
          <a:ln>
            <a:noFill/>
          </a:ln>
        </p:spPr>
      </p:pic>
      <p:sp>
        <p:nvSpPr>
          <p:cNvPr id="498" name="Google Shape;498;p26"/>
          <p:cNvSpPr txBox="1"/>
          <p:nvPr/>
        </p:nvSpPr>
        <p:spPr>
          <a:xfrm flipH="1">
            <a:off x="345233" y="1000364"/>
            <a:ext cx="2410753" cy="449793"/>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Environmental Challenges in UVC</a:t>
            </a:r>
            <a:endParaRPr lang="en-US" sz="1600" b="1" dirty="0">
              <a:solidFill>
                <a:schemeClr val="lt2"/>
              </a:solidFill>
              <a:latin typeface="Rajdhani"/>
              <a:ea typeface="Rajdhani"/>
              <a:cs typeface="Rajdhani"/>
              <a:sym typeface="Rajdhani"/>
            </a:endParaRPr>
          </a:p>
        </p:txBody>
      </p:sp>
      <p:sp>
        <p:nvSpPr>
          <p:cNvPr id="501" name="Google Shape;501;p26"/>
          <p:cNvSpPr txBox="1"/>
          <p:nvPr/>
        </p:nvSpPr>
        <p:spPr>
          <a:xfrm flipH="1">
            <a:off x="154633" y="2539247"/>
            <a:ext cx="2412117" cy="449793"/>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Limitations of Traditional Models</a:t>
            </a:r>
            <a:endParaRPr lang="en-US" sz="1600" b="1" dirty="0">
              <a:solidFill>
                <a:schemeClr val="lt2"/>
              </a:solidFill>
              <a:latin typeface="Rajdhani"/>
              <a:ea typeface="Rajdhani"/>
              <a:cs typeface="Rajdhani"/>
              <a:sym typeface="Rajdhani"/>
            </a:endParaRPr>
          </a:p>
        </p:txBody>
      </p:sp>
      <p:sp>
        <p:nvSpPr>
          <p:cNvPr id="504" name="Google Shape;504;p26"/>
          <p:cNvSpPr txBox="1"/>
          <p:nvPr/>
        </p:nvSpPr>
        <p:spPr>
          <a:xfrm flipH="1">
            <a:off x="55017" y="3853102"/>
            <a:ext cx="2700969" cy="457200"/>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Need for Intelligent Systems</a:t>
            </a:r>
            <a:endParaRPr lang="en-US" sz="1600" b="1" dirty="0">
              <a:solidFill>
                <a:schemeClr val="lt2"/>
              </a:solidFill>
              <a:latin typeface="Rajdhani"/>
              <a:ea typeface="Rajdhani"/>
              <a:cs typeface="Rajdhani"/>
              <a:sym typeface="Rajdhani"/>
            </a:endParaRPr>
          </a:p>
        </p:txBody>
      </p:sp>
      <p:sp>
        <p:nvSpPr>
          <p:cNvPr id="507" name="Google Shape;507;p26"/>
          <p:cNvSpPr txBox="1"/>
          <p:nvPr/>
        </p:nvSpPr>
        <p:spPr>
          <a:xfrm flipH="1">
            <a:off x="6220005" y="1000360"/>
            <a:ext cx="2756042" cy="449793"/>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Role of Machine Learning</a:t>
            </a:r>
            <a:endParaRPr lang="en-US" sz="1600" b="1" dirty="0">
              <a:solidFill>
                <a:schemeClr val="lt2"/>
              </a:solidFill>
              <a:latin typeface="Rajdhani"/>
              <a:ea typeface="Rajdhani"/>
              <a:cs typeface="Rajdhani"/>
              <a:sym typeface="Rajdhani"/>
            </a:endParaRPr>
          </a:p>
        </p:txBody>
      </p:sp>
      <p:sp>
        <p:nvSpPr>
          <p:cNvPr id="510" name="Google Shape;510;p26"/>
          <p:cNvSpPr txBox="1"/>
          <p:nvPr/>
        </p:nvSpPr>
        <p:spPr>
          <a:xfrm flipH="1">
            <a:off x="6380565" y="2326006"/>
            <a:ext cx="2001663" cy="457200"/>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System Inputs and Outputs</a:t>
            </a:r>
            <a:endParaRPr lang="en-US" sz="1600" b="1" dirty="0">
              <a:solidFill>
                <a:schemeClr val="lt2"/>
              </a:solidFill>
              <a:latin typeface="Rajdhani"/>
              <a:ea typeface="Rajdhani"/>
              <a:cs typeface="Rajdhani"/>
              <a:sym typeface="Rajdhani"/>
            </a:endParaRPr>
          </a:p>
        </p:txBody>
      </p:sp>
      <p:sp>
        <p:nvSpPr>
          <p:cNvPr id="513" name="Google Shape;513;p26"/>
          <p:cNvSpPr txBox="1"/>
          <p:nvPr/>
        </p:nvSpPr>
        <p:spPr>
          <a:xfrm flipH="1">
            <a:off x="6277192" y="3841076"/>
            <a:ext cx="2456260" cy="457200"/>
          </a:xfrm>
          <a:prstGeom prst="rect">
            <a:avLst/>
          </a:prstGeom>
          <a:noFill/>
          <a:ln>
            <a:noFill/>
          </a:ln>
        </p:spPr>
        <p:txBody>
          <a:bodyPr spcFirstLastPara="1" wrap="square" lIns="91425" tIns="91425" rIns="91425" bIns="91425" anchor="b" anchorCtr="0">
            <a:noAutofit/>
          </a:bodyPr>
          <a:lstStyle/>
          <a:p>
            <a:pPr lvl="0" algn="ctr"/>
            <a:r>
              <a:rPr lang="en-US" sz="1600" b="1" dirty="0">
                <a:solidFill>
                  <a:schemeClr val="lt2"/>
                </a:solidFill>
                <a:latin typeface="Rajdhani"/>
                <a:ea typeface="Rajdhani"/>
                <a:cs typeface="Rajdhani"/>
                <a:sym typeface="Rajdhani"/>
              </a:rPr>
              <a:t>Advantages of ML-Based Approach</a:t>
            </a:r>
            <a:endParaRPr lang="en-US" sz="1600" b="1" dirty="0">
              <a:solidFill>
                <a:schemeClr val="lt2"/>
              </a:solidFill>
              <a:latin typeface="Rajdhani"/>
              <a:ea typeface="Rajdhani"/>
              <a:cs typeface="Rajdhani"/>
              <a:sym typeface="Rajdhani"/>
            </a:endParaRPr>
          </a:p>
        </p:txBody>
      </p:sp>
      <p:cxnSp>
        <p:nvCxnSpPr>
          <p:cNvPr id="515" name="Google Shape;515;p26"/>
          <p:cNvCxnSpPr>
            <a:stCxn id="498" idx="1"/>
            <a:endCxn id="495" idx="0"/>
          </p:cNvCxnSpPr>
          <p:nvPr/>
        </p:nvCxnSpPr>
        <p:spPr>
          <a:xfrm>
            <a:off x="2755986" y="1225261"/>
            <a:ext cx="1780546" cy="783460"/>
          </a:xfrm>
          <a:prstGeom prst="bentConnector2">
            <a:avLst/>
          </a:prstGeom>
          <a:noFill/>
          <a:ln w="19050" cap="flat" cmpd="sng">
            <a:solidFill>
              <a:schemeClr val="lt2"/>
            </a:solidFill>
            <a:prstDash val="solid"/>
            <a:round/>
            <a:headEnd type="oval" w="med" len="med"/>
            <a:tailEnd type="none" w="med" len="med"/>
          </a:ln>
        </p:spPr>
      </p:cxnSp>
      <p:cxnSp>
        <p:nvCxnSpPr>
          <p:cNvPr id="516" name="Google Shape;516;p26"/>
          <p:cNvCxnSpPr>
            <a:stCxn id="495" idx="0"/>
            <a:endCxn id="507" idx="3"/>
          </p:cNvCxnSpPr>
          <p:nvPr/>
        </p:nvCxnSpPr>
        <p:spPr>
          <a:xfrm rot="5400000" flipH="1" flipV="1">
            <a:off x="4986536" y="775253"/>
            <a:ext cx="783464" cy="1683473"/>
          </a:xfrm>
          <a:prstGeom prst="bentConnector2">
            <a:avLst/>
          </a:prstGeom>
          <a:noFill/>
          <a:ln w="19050" cap="flat" cmpd="sng">
            <a:solidFill>
              <a:schemeClr val="lt2"/>
            </a:solidFill>
            <a:prstDash val="solid"/>
            <a:round/>
            <a:headEnd type="none" w="med" len="med"/>
            <a:tailEnd type="oval" w="med" len="med"/>
          </a:ln>
        </p:spPr>
      </p:cxnSp>
      <p:cxnSp>
        <p:nvCxnSpPr>
          <p:cNvPr id="517" name="Google Shape;517;p26"/>
          <p:cNvCxnSpPr/>
          <p:nvPr/>
        </p:nvCxnSpPr>
        <p:spPr>
          <a:xfrm flipV="1">
            <a:off x="2926731" y="4036920"/>
            <a:ext cx="1755830" cy="61332"/>
          </a:xfrm>
          <a:prstGeom prst="bentConnector2">
            <a:avLst/>
          </a:prstGeom>
          <a:noFill/>
          <a:ln w="19050" cap="flat" cmpd="sng">
            <a:solidFill>
              <a:schemeClr val="lt2"/>
            </a:solidFill>
            <a:prstDash val="solid"/>
            <a:round/>
            <a:headEnd type="oval" w="med" len="med"/>
            <a:tailEnd type="none" w="med" len="med"/>
          </a:ln>
        </p:spPr>
      </p:cxnSp>
      <p:cxnSp>
        <p:nvCxnSpPr>
          <p:cNvPr id="518" name="Google Shape;518;p26"/>
          <p:cNvCxnSpPr/>
          <p:nvPr/>
        </p:nvCxnSpPr>
        <p:spPr>
          <a:xfrm rot="16200000" flipH="1">
            <a:off x="5419238" y="3297448"/>
            <a:ext cx="61332" cy="1540276"/>
          </a:xfrm>
          <a:prstGeom prst="bentConnector2">
            <a:avLst/>
          </a:prstGeom>
          <a:noFill/>
          <a:ln w="19050" cap="flat" cmpd="sng">
            <a:solidFill>
              <a:schemeClr val="lt2"/>
            </a:solidFill>
            <a:prstDash val="solid"/>
            <a:round/>
            <a:headEnd type="none" w="med" len="med"/>
            <a:tailEnd type="oval" w="med" len="med"/>
          </a:ln>
        </p:spPr>
      </p:cxnSp>
      <p:cxnSp>
        <p:nvCxnSpPr>
          <p:cNvPr id="520" name="Google Shape;520;p26"/>
          <p:cNvCxnSpPr>
            <a:cxnSpLocks/>
            <a:endCxn id="510" idx="3"/>
          </p:cNvCxnSpPr>
          <p:nvPr/>
        </p:nvCxnSpPr>
        <p:spPr>
          <a:xfrm flipV="1">
            <a:off x="5967634" y="2554606"/>
            <a:ext cx="412931" cy="285752"/>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23" name="مربع نص 22"/>
          <p:cNvSpPr txBox="1"/>
          <p:nvPr/>
        </p:nvSpPr>
        <p:spPr>
          <a:xfrm>
            <a:off x="345233" y="1398766"/>
            <a:ext cx="2722401" cy="577081"/>
          </a:xfrm>
          <a:prstGeom prst="rect">
            <a:avLst/>
          </a:prstGeom>
          <a:noFill/>
        </p:spPr>
        <p:txBody>
          <a:bodyPr wrap="square" rtlCol="0">
            <a:spAutoFit/>
          </a:bodyPr>
          <a:lstStyle/>
          <a:p>
            <a:r>
              <a:rPr lang="en-US" sz="1050" dirty="0">
                <a:solidFill>
                  <a:schemeClr val="accent4">
                    <a:lumMod val="90000"/>
                  </a:schemeClr>
                </a:solidFill>
              </a:rPr>
              <a:t>Impact of atmospheric conditions such as fog, scattering, and attenuation on system performance.</a:t>
            </a:r>
            <a:endParaRPr lang="en-US" sz="1050" dirty="0">
              <a:solidFill>
                <a:schemeClr val="accent4">
                  <a:lumMod val="90000"/>
                </a:schemeClr>
              </a:solidFill>
            </a:endParaRPr>
          </a:p>
        </p:txBody>
      </p:sp>
      <p:cxnSp>
        <p:nvCxnSpPr>
          <p:cNvPr id="86" name="Google Shape;520;p26"/>
          <p:cNvCxnSpPr>
            <a:cxnSpLocks/>
          </p:cNvCxnSpPr>
          <p:nvPr/>
        </p:nvCxnSpPr>
        <p:spPr>
          <a:xfrm rot="10800000" flipV="1">
            <a:off x="2638288" y="2660173"/>
            <a:ext cx="429816" cy="99133"/>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91" name="مربع نص 90"/>
          <p:cNvSpPr txBox="1"/>
          <p:nvPr/>
        </p:nvSpPr>
        <p:spPr>
          <a:xfrm>
            <a:off x="154633" y="2912384"/>
            <a:ext cx="2722401" cy="577081"/>
          </a:xfrm>
          <a:prstGeom prst="rect">
            <a:avLst/>
          </a:prstGeom>
          <a:noFill/>
        </p:spPr>
        <p:txBody>
          <a:bodyPr wrap="square" rtlCol="0">
            <a:spAutoFit/>
          </a:bodyPr>
          <a:lstStyle/>
          <a:p>
            <a:r>
              <a:rPr lang="en-US" sz="1050" dirty="0">
                <a:solidFill>
                  <a:schemeClr val="accent4">
                    <a:lumMod val="90000"/>
                  </a:schemeClr>
                </a:solidFill>
              </a:rPr>
              <a:t>Conventional models rely on simplified assumptions and fail to capture real-world dynamics.</a:t>
            </a:r>
            <a:endParaRPr lang="en-US" sz="1050" dirty="0">
              <a:solidFill>
                <a:schemeClr val="accent4">
                  <a:lumMod val="90000"/>
                </a:schemeClr>
              </a:solidFill>
            </a:endParaRPr>
          </a:p>
        </p:txBody>
      </p:sp>
      <p:sp>
        <p:nvSpPr>
          <p:cNvPr id="98" name="مربع نص 97"/>
          <p:cNvSpPr txBox="1"/>
          <p:nvPr/>
        </p:nvSpPr>
        <p:spPr>
          <a:xfrm>
            <a:off x="154633" y="4178856"/>
            <a:ext cx="2722401" cy="577081"/>
          </a:xfrm>
          <a:prstGeom prst="rect">
            <a:avLst/>
          </a:prstGeom>
          <a:noFill/>
        </p:spPr>
        <p:txBody>
          <a:bodyPr wrap="square" rtlCol="0">
            <a:spAutoFit/>
          </a:bodyPr>
          <a:lstStyle/>
          <a:p>
            <a:r>
              <a:rPr lang="en-US" sz="1050" dirty="0">
                <a:solidFill>
                  <a:schemeClr val="accent4">
                    <a:lumMod val="90000"/>
                  </a:schemeClr>
                </a:solidFill>
              </a:rPr>
              <a:t>Traditional systems require continuous human intervention and lack autonomous adaptation.</a:t>
            </a:r>
            <a:endParaRPr lang="en-US" sz="1050" dirty="0">
              <a:solidFill>
                <a:schemeClr val="accent4">
                  <a:lumMod val="90000"/>
                </a:schemeClr>
              </a:solidFill>
            </a:endParaRPr>
          </a:p>
        </p:txBody>
      </p:sp>
      <p:sp>
        <p:nvSpPr>
          <p:cNvPr id="99" name="مربع نص 98"/>
          <p:cNvSpPr txBox="1"/>
          <p:nvPr/>
        </p:nvSpPr>
        <p:spPr>
          <a:xfrm>
            <a:off x="6236825" y="1344902"/>
            <a:ext cx="2722401" cy="577081"/>
          </a:xfrm>
          <a:prstGeom prst="rect">
            <a:avLst/>
          </a:prstGeom>
          <a:noFill/>
        </p:spPr>
        <p:txBody>
          <a:bodyPr wrap="square" rtlCol="0">
            <a:spAutoFit/>
          </a:bodyPr>
          <a:lstStyle/>
          <a:p>
            <a:r>
              <a:rPr lang="en-US" sz="1050" dirty="0">
                <a:solidFill>
                  <a:schemeClr val="accent4">
                    <a:lumMod val="90000"/>
                  </a:schemeClr>
                </a:solidFill>
              </a:rPr>
              <a:t>Machine learning enables systems to learn from data and adapt to changing environmental conditions.</a:t>
            </a:r>
            <a:endParaRPr lang="en-US" dirty="0"/>
          </a:p>
        </p:txBody>
      </p:sp>
      <p:sp>
        <p:nvSpPr>
          <p:cNvPr id="100" name="مربع نص 99"/>
          <p:cNvSpPr txBox="1"/>
          <p:nvPr/>
        </p:nvSpPr>
        <p:spPr>
          <a:xfrm>
            <a:off x="6236825" y="2771923"/>
            <a:ext cx="2722401" cy="577081"/>
          </a:xfrm>
          <a:prstGeom prst="rect">
            <a:avLst/>
          </a:prstGeom>
          <a:noFill/>
        </p:spPr>
        <p:txBody>
          <a:bodyPr wrap="square" rtlCol="0">
            <a:spAutoFit/>
          </a:bodyPr>
          <a:lstStyle/>
          <a:p>
            <a:r>
              <a:rPr lang="en-US" sz="1050" dirty="0">
                <a:solidFill>
                  <a:schemeClr val="accent4">
                    <a:lumMod val="90000"/>
                  </a:schemeClr>
                </a:solidFill>
              </a:rPr>
              <a:t>Inputs: distance, fog density, dust concentration, signal power. Outputs: BER and SNR.</a:t>
            </a:r>
            <a:endParaRPr lang="en-US" sz="1050" dirty="0">
              <a:solidFill>
                <a:schemeClr val="accent4">
                  <a:lumMod val="90000"/>
                </a:schemeClr>
              </a:solidFill>
            </a:endParaRPr>
          </a:p>
        </p:txBody>
      </p:sp>
      <p:sp>
        <p:nvSpPr>
          <p:cNvPr id="101" name="مربع نص 100"/>
          <p:cNvSpPr txBox="1"/>
          <p:nvPr/>
        </p:nvSpPr>
        <p:spPr>
          <a:xfrm>
            <a:off x="6277157" y="4243170"/>
            <a:ext cx="2730822" cy="577081"/>
          </a:xfrm>
          <a:prstGeom prst="rect">
            <a:avLst/>
          </a:prstGeom>
          <a:noFill/>
        </p:spPr>
        <p:txBody>
          <a:bodyPr wrap="square" rtlCol="0">
            <a:spAutoFit/>
          </a:bodyPr>
          <a:lstStyle/>
          <a:p>
            <a:r>
              <a:rPr lang="en-US" sz="1050" dirty="0">
                <a:solidFill>
                  <a:schemeClr val="accent4">
                    <a:lumMod val="90000"/>
                  </a:schemeClr>
                </a:solidFill>
              </a:rPr>
              <a:t>Provides accurate predictions, higher flexibility, and improved system performance.</a:t>
            </a:r>
            <a:endParaRPr lang="en-US" sz="1050" dirty="0">
              <a:solidFill>
                <a:schemeClr val="accent4">
                  <a:lumMod val="90000"/>
                </a:schemeClr>
              </a:solidFill>
            </a:endParaRPr>
          </a:p>
        </p:txBody>
      </p:sp>
    </p:spTree>
    <p:extLst>
      <p:ext uri="{BB962C8B-B14F-4D97-AF65-F5344CB8AC3E}">
        <p14:creationId xmlns:p14="http://schemas.microsoft.com/office/powerpoint/2010/main" val="26269351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Methodology</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The system model is based on a simplified physics-inspired formulation to represent UVC behavior under different atmospheric conditions. A synthetic dataset of 500 samples (n = 500) was generated using uniform random distributions for transmission distance, fog density, dust concentration, and signal power. The Signal-to-Noise Ratio (SNR) is modeled as 𝑆𝑁𝑅=𝑃⋅</a:t>
            </a:r>
            <a:r>
              <a:rPr lang="en-US" sz="1600" dirty="0" smtClean="0">
                <a:solidFill>
                  <a:schemeClr val="lt2"/>
                </a:solidFill>
              </a:rPr>
              <a:t>120</a:t>
            </a:r>
            <a:r>
              <a:rPr lang="ar-SA" sz="1600" dirty="0" smtClean="0">
                <a:solidFill>
                  <a:schemeClr val="lt2"/>
                </a:solidFill>
              </a:rPr>
              <a:t>/</a:t>
            </a:r>
            <a:r>
              <a:rPr lang="en-US" sz="1600" dirty="0" smtClean="0">
                <a:solidFill>
                  <a:schemeClr val="lt2"/>
                </a:solidFill>
              </a:rPr>
              <a:t>𝑑</a:t>
            </a:r>
            <a:r>
              <a:rPr lang="en-US" sz="1600" dirty="0">
                <a:solidFill>
                  <a:schemeClr val="lt2"/>
                </a:solidFill>
              </a:rPr>
              <a:t>(1+𝑓+𝑎</a:t>
            </a:r>
            <a:r>
              <a:rPr lang="en-US" sz="1600" dirty="0" smtClean="0">
                <a:solidFill>
                  <a:schemeClr val="lt2"/>
                </a:solidFill>
              </a:rPr>
              <a:t>) ​</a:t>
            </a:r>
            <a:r>
              <a:rPr lang="en-US" sz="1600" dirty="0">
                <a:solidFill>
                  <a:schemeClr val="lt2"/>
                </a:solidFill>
              </a:rPr>
              <a:t>, where power increases signal quality while distance, fog, and dust reduce it. The Bit Error Rate (BER) is defined as </a:t>
            </a:r>
            <a:r>
              <a:rPr lang="en-US" sz="1600" dirty="0" smtClean="0">
                <a:solidFill>
                  <a:schemeClr val="lt2"/>
                </a:solidFill>
              </a:rPr>
              <a:t>BER=e</a:t>
            </a:r>
            <a:r>
              <a:rPr lang="ar-SA" sz="1600" dirty="0" smtClean="0">
                <a:solidFill>
                  <a:schemeClr val="lt2"/>
                </a:solidFill>
              </a:rPr>
              <a:t>^</a:t>
            </a:r>
            <a:r>
              <a:rPr lang="en-US" sz="1600" dirty="0" smtClean="0">
                <a:solidFill>
                  <a:schemeClr val="lt2"/>
                </a:solidFill>
              </a:rPr>
              <a:t>−</a:t>
            </a:r>
            <a:r>
              <a:rPr lang="en-US" sz="1600" dirty="0">
                <a:solidFill>
                  <a:schemeClr val="lt2"/>
                </a:solidFill>
              </a:rPr>
              <a:t>SNR, reflecting the inverse relationship between SNR and transmission errors. These simplified equations are used to train and evaluate the machine learning model.</a:t>
            </a:r>
            <a:endParaRPr lang="en-US" dirty="0">
              <a:solidFill>
                <a:schemeClr val="lt2"/>
              </a:solidFill>
            </a:endParaRPr>
          </a:p>
          <a:p>
            <a:pPr marL="139700" lvl="0" indent="0">
              <a:buClr>
                <a:schemeClr val="lt2"/>
              </a:buClr>
              <a:buNone/>
            </a:pPr>
            <a:endParaRPr dirty="0">
              <a:solidFill>
                <a:schemeClr val="lt2"/>
              </a:solidFill>
            </a:endParaRPr>
          </a:p>
        </p:txBody>
      </p:sp>
    </p:spTree>
    <p:extLst>
      <p:ext uri="{BB962C8B-B14F-4D97-AF65-F5344CB8AC3E}">
        <p14:creationId xmlns:p14="http://schemas.microsoft.com/office/powerpoint/2010/main" val="4230280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0"/>
          <p:cNvSpPr txBox="1">
            <a:spLocks noGrp="1"/>
          </p:cNvSpPr>
          <p:nvPr>
            <p:ph type="title"/>
          </p:nvPr>
        </p:nvSpPr>
        <p:spPr>
          <a:xfrm>
            <a:off x="720000" y="203597"/>
            <a:ext cx="7704000" cy="572700"/>
          </a:xfrm>
          <a:prstGeom prst="rect">
            <a:avLst/>
          </a:prstGeom>
        </p:spPr>
        <p:txBody>
          <a:bodyPr spcFirstLastPara="1" wrap="square" lIns="91425" tIns="91425" rIns="91425" bIns="91425" anchor="t" anchorCtr="0">
            <a:noAutofit/>
          </a:bodyPr>
          <a:lstStyle/>
          <a:p>
            <a:pPr lvl="0"/>
            <a:r>
              <a:rPr lang="en-US" dirty="0"/>
              <a:t>Transition to Simulation</a:t>
            </a:r>
            <a:endParaRPr dirty="0"/>
          </a:p>
        </p:txBody>
      </p:sp>
      <p:sp>
        <p:nvSpPr>
          <p:cNvPr id="697" name="Google Shape;697;p30"/>
          <p:cNvSpPr txBox="1"/>
          <p:nvPr/>
        </p:nvSpPr>
        <p:spPr>
          <a:xfrm>
            <a:off x="3402450" y="7210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dirty="0" smtClean="0">
                <a:solidFill>
                  <a:schemeClr val="lt2"/>
                </a:solidFill>
                <a:latin typeface="Rajdhani"/>
                <a:ea typeface="Rajdhani"/>
                <a:cs typeface="Rajdhani"/>
                <a:sym typeface="Rajdhani"/>
              </a:rPr>
              <a:t>BER Prediction</a:t>
            </a:r>
            <a:endParaRPr sz="2400" b="1" dirty="0">
              <a:solidFill>
                <a:schemeClr val="lt2"/>
              </a:solidFill>
              <a:latin typeface="Rajdhani"/>
              <a:ea typeface="Rajdhani"/>
              <a:cs typeface="Rajdhani"/>
              <a:sym typeface="Rajdhani"/>
            </a:endParaRPr>
          </a:p>
        </p:txBody>
      </p:sp>
      <p:sp>
        <p:nvSpPr>
          <p:cNvPr id="61" name="مربع نص 60"/>
          <p:cNvSpPr txBox="1"/>
          <p:nvPr/>
        </p:nvSpPr>
        <p:spPr>
          <a:xfrm>
            <a:off x="1418253" y="1091427"/>
            <a:ext cx="6307494" cy="900246"/>
          </a:xfrm>
          <a:prstGeom prst="rect">
            <a:avLst/>
          </a:prstGeom>
          <a:noFill/>
        </p:spPr>
        <p:txBody>
          <a:bodyPr wrap="square" rtlCol="0">
            <a:spAutoFit/>
          </a:bodyPr>
          <a:lstStyle/>
          <a:p>
            <a:r>
              <a:rPr lang="en-US" sz="1050" dirty="0">
                <a:solidFill>
                  <a:schemeClr val="accent4">
                    <a:lumMod val="90000"/>
                  </a:schemeClr>
                </a:solidFill>
              </a:rPr>
              <a:t>The implemented model achieved a Mean Squared Error (MSE) of 0.0004680276551369002, indicating high </a:t>
            </a:r>
            <a:r>
              <a:rPr lang="en-US" sz="1050" dirty="0" smtClean="0">
                <a:solidFill>
                  <a:schemeClr val="accent4">
                    <a:lumMod val="90000"/>
                  </a:schemeClr>
                </a:solidFill>
              </a:rPr>
              <a:t>prediction</a:t>
            </a:r>
            <a:r>
              <a:rPr lang="ar-SA" sz="1050" dirty="0" smtClean="0">
                <a:solidFill>
                  <a:schemeClr val="accent4">
                    <a:lumMod val="90000"/>
                  </a:schemeClr>
                </a:solidFill>
              </a:rPr>
              <a:t> </a:t>
            </a:r>
            <a:r>
              <a:rPr lang="en-US" sz="1050" dirty="0" smtClean="0">
                <a:solidFill>
                  <a:schemeClr val="accent4">
                    <a:lumMod val="90000"/>
                  </a:schemeClr>
                </a:solidFill>
              </a:rPr>
              <a:t>accuracy. Comparison </a:t>
            </a:r>
            <a:r>
              <a:rPr lang="en-US" sz="1050" dirty="0">
                <a:solidFill>
                  <a:schemeClr val="accent4">
                    <a:lumMod val="90000"/>
                  </a:schemeClr>
                </a:solidFill>
              </a:rPr>
              <a:t>of the actual and predicted values of BER indicates that there is a high correlation between the two </a:t>
            </a:r>
            <a:r>
              <a:rPr lang="en-US" sz="1050" dirty="0" smtClean="0">
                <a:solidFill>
                  <a:schemeClr val="accent4">
                    <a:lumMod val="90000"/>
                  </a:schemeClr>
                </a:solidFill>
              </a:rPr>
              <a:t>results, which </a:t>
            </a:r>
            <a:r>
              <a:rPr lang="en-US" sz="1050" dirty="0">
                <a:solidFill>
                  <a:schemeClr val="accent4">
                    <a:lumMod val="90000"/>
                  </a:schemeClr>
                </a:solidFill>
              </a:rPr>
              <a:t>depicts the efficiency of the machine learning model in representing the relationship between environmental conditions </a:t>
            </a:r>
            <a:r>
              <a:rPr lang="en-US" sz="1050" dirty="0" smtClean="0">
                <a:solidFill>
                  <a:schemeClr val="accent4">
                    <a:lumMod val="90000"/>
                  </a:schemeClr>
                </a:solidFill>
              </a:rPr>
              <a:t>and signal </a:t>
            </a:r>
            <a:r>
              <a:rPr lang="en-US" sz="1050" dirty="0">
                <a:solidFill>
                  <a:schemeClr val="accent4">
                    <a:lumMod val="90000"/>
                  </a:schemeClr>
                </a:solidFill>
              </a:rPr>
              <a:t>degradation.</a:t>
            </a:r>
            <a:endParaRPr lang="en-US" sz="1050" dirty="0">
              <a:solidFill>
                <a:schemeClr val="accent4">
                  <a:lumMod val="90000"/>
                </a:schemeClr>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8342" y="1899882"/>
            <a:ext cx="4107316" cy="310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0"/>
          <p:cNvSpPr txBox="1">
            <a:spLocks noGrp="1"/>
          </p:cNvSpPr>
          <p:nvPr>
            <p:ph type="title"/>
          </p:nvPr>
        </p:nvSpPr>
        <p:spPr>
          <a:xfrm>
            <a:off x="720000" y="203597"/>
            <a:ext cx="7704000" cy="572700"/>
          </a:xfrm>
          <a:prstGeom prst="rect">
            <a:avLst/>
          </a:prstGeom>
        </p:spPr>
        <p:txBody>
          <a:bodyPr spcFirstLastPara="1" wrap="square" lIns="91425" tIns="91425" rIns="91425" bIns="91425" anchor="t" anchorCtr="0">
            <a:noAutofit/>
          </a:bodyPr>
          <a:lstStyle/>
          <a:p>
            <a:pPr lvl="0"/>
            <a:r>
              <a:rPr lang="en-US" dirty="0"/>
              <a:t>Transition to Simulation</a:t>
            </a:r>
            <a:endParaRPr dirty="0"/>
          </a:p>
        </p:txBody>
      </p:sp>
      <p:sp>
        <p:nvSpPr>
          <p:cNvPr id="697" name="Google Shape;697;p30"/>
          <p:cNvSpPr txBox="1"/>
          <p:nvPr/>
        </p:nvSpPr>
        <p:spPr>
          <a:xfrm>
            <a:off x="3402450" y="7210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400" b="1" dirty="0" smtClean="0">
                <a:solidFill>
                  <a:schemeClr val="lt2"/>
                </a:solidFill>
                <a:latin typeface="Rajdhani"/>
                <a:ea typeface="Rajdhani"/>
                <a:cs typeface="Rajdhani"/>
                <a:sym typeface="Rajdhani"/>
              </a:rPr>
              <a:t>NS</a:t>
            </a:r>
            <a:r>
              <a:rPr lang="en" sz="2400" b="1" dirty="0" smtClean="0">
                <a:solidFill>
                  <a:schemeClr val="lt2"/>
                </a:solidFill>
                <a:latin typeface="Rajdhani"/>
                <a:ea typeface="Rajdhani"/>
                <a:cs typeface="Rajdhani"/>
                <a:sym typeface="Rajdhani"/>
              </a:rPr>
              <a:t>R Prediction</a:t>
            </a:r>
            <a:endParaRPr sz="2400" b="1" dirty="0">
              <a:solidFill>
                <a:schemeClr val="lt2"/>
              </a:solidFill>
              <a:latin typeface="Rajdhani"/>
              <a:ea typeface="Rajdhani"/>
              <a:cs typeface="Rajdhani"/>
              <a:sym typeface="Rajdhani"/>
            </a:endParaRPr>
          </a:p>
        </p:txBody>
      </p:sp>
      <p:sp>
        <p:nvSpPr>
          <p:cNvPr id="61" name="مربع نص 60"/>
          <p:cNvSpPr txBox="1"/>
          <p:nvPr/>
        </p:nvSpPr>
        <p:spPr>
          <a:xfrm>
            <a:off x="1418253" y="1091427"/>
            <a:ext cx="6307494" cy="577081"/>
          </a:xfrm>
          <a:prstGeom prst="rect">
            <a:avLst/>
          </a:prstGeom>
          <a:noFill/>
        </p:spPr>
        <p:txBody>
          <a:bodyPr wrap="square" rtlCol="0">
            <a:spAutoFit/>
          </a:bodyPr>
          <a:lstStyle/>
          <a:p>
            <a:r>
              <a:rPr lang="en-US" sz="1050" dirty="0">
                <a:solidFill>
                  <a:schemeClr val="accent4">
                    <a:lumMod val="90000"/>
                  </a:schemeClr>
                </a:solidFill>
              </a:rPr>
              <a:t>he Mean Squared Error (MSE) was estimated to be about 5.50 which indicates a reasonable degree of </a:t>
            </a:r>
            <a:r>
              <a:rPr lang="en-US" sz="1050" dirty="0" smtClean="0">
                <a:solidFill>
                  <a:schemeClr val="accent4">
                    <a:lumMod val="90000"/>
                  </a:schemeClr>
                </a:solidFill>
              </a:rPr>
              <a:t>prediction accuracy </a:t>
            </a:r>
            <a:r>
              <a:rPr lang="en-US" sz="1050" dirty="0">
                <a:solidFill>
                  <a:schemeClr val="accent4">
                    <a:lumMod val="90000"/>
                  </a:schemeClr>
                </a:solidFill>
              </a:rPr>
              <a:t>given the inherent variability and uncertainty inherent in the simulated environment. The comparatively small error </a:t>
            </a:r>
            <a:r>
              <a:rPr lang="en-US" sz="1050" dirty="0" smtClean="0">
                <a:solidFill>
                  <a:schemeClr val="accent4">
                    <a:lumMod val="90000"/>
                  </a:schemeClr>
                </a:solidFill>
              </a:rPr>
              <a:t>value also </a:t>
            </a:r>
            <a:r>
              <a:rPr lang="en-US" sz="1050" dirty="0">
                <a:solidFill>
                  <a:schemeClr val="accent4">
                    <a:lumMod val="90000"/>
                  </a:schemeClr>
                </a:solidFill>
              </a:rPr>
              <a:t>helps to confirm the accuracy of the model predictions.</a:t>
            </a:r>
            <a:endParaRPr lang="en-US" sz="1050" dirty="0">
              <a:solidFill>
                <a:schemeClr val="accent4">
                  <a:lumMod val="90000"/>
                </a:schemeClr>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270" y="1750396"/>
            <a:ext cx="4353460" cy="3311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09713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Discussion</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The results show that the machine learning model successfully learned the nonlinear behavior of the UVC channel and achieved high prediction accuracy, demonstrating the effectiveness of data-driven modeling. However, the study is limited by the use of synthetic data, which may not fully represent real-world conditions.</a:t>
            </a:r>
          </a:p>
          <a:p>
            <a:pPr marL="139700" lvl="0" indent="0">
              <a:buClr>
                <a:schemeClr val="lt2"/>
              </a:buClr>
              <a:buNone/>
            </a:pPr>
            <a:endParaRPr lang="en-US" dirty="0">
              <a:solidFill>
                <a:schemeClr val="lt2"/>
              </a:solidFill>
            </a:endParaRPr>
          </a:p>
          <a:p>
            <a:pPr marL="139700" lvl="0" indent="0">
              <a:buClr>
                <a:schemeClr val="lt2"/>
              </a:buClr>
              <a:buNone/>
            </a:pPr>
            <a:endParaRPr dirty="0">
              <a:solidFill>
                <a:schemeClr val="lt2"/>
              </a:solidFill>
            </a:endParaRPr>
          </a:p>
        </p:txBody>
      </p:sp>
    </p:spTree>
    <p:extLst>
      <p:ext uri="{BB962C8B-B14F-4D97-AF65-F5344CB8AC3E}">
        <p14:creationId xmlns:p14="http://schemas.microsoft.com/office/powerpoint/2010/main" val="37615678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Recommendations:</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This research highlights the need to further explore advanced technologies that can be integrated with ultraviolet communication to improve performance and adaptability. It emphasizes developing a flexible framework that keeps up with rapid technological changes and continuously considers all factors affecting UV signal propagation. Such an approach can enhance communication efficiency and help address the challenges of dynamic and unpredictable environments.</a:t>
            </a:r>
          </a:p>
          <a:p>
            <a:pPr marL="139700" lvl="0" indent="0">
              <a:buClr>
                <a:schemeClr val="lt2"/>
              </a:buClr>
              <a:buNone/>
            </a:pPr>
            <a:endParaRPr lang="en-US" dirty="0">
              <a:solidFill>
                <a:schemeClr val="lt2"/>
              </a:solidFill>
            </a:endParaRPr>
          </a:p>
          <a:p>
            <a:pPr marL="139700" lvl="0" indent="0">
              <a:buClr>
                <a:schemeClr val="lt2"/>
              </a:buClr>
              <a:buNone/>
            </a:pPr>
            <a:endParaRPr dirty="0">
              <a:solidFill>
                <a:schemeClr val="lt2"/>
              </a:solidFill>
            </a:endParaRPr>
          </a:p>
        </p:txBody>
      </p:sp>
    </p:spTree>
    <p:extLst>
      <p:ext uri="{BB962C8B-B14F-4D97-AF65-F5344CB8AC3E}">
        <p14:creationId xmlns:p14="http://schemas.microsoft.com/office/powerpoint/2010/main" val="42831164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Conclusion</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This paper proposes a machine learning-based framework to improve the prediction of UVC system performance under varying atmospheric conditions. The results show that traditional methods struggle to capture the nonlinear behavior of UVC channels, while the Random Forest model effectively learns the relationship between environmental factors and performance metrics (BER and SNR). Simulation results demonstrate high prediction accuracy and improved system adaptability, reducing reliance on manual tuning. However, the study is limited by the use of synthetic data, and future work should focus on real-world validation and more advanced models.</a:t>
            </a:r>
          </a:p>
          <a:p>
            <a:pPr marL="139700" lvl="0" indent="0">
              <a:buClr>
                <a:schemeClr val="lt2"/>
              </a:buClr>
              <a:buNone/>
            </a:pPr>
            <a:endParaRPr lang="en-US" dirty="0">
              <a:solidFill>
                <a:schemeClr val="lt2"/>
              </a:solidFill>
            </a:endParaRPr>
          </a:p>
          <a:p>
            <a:pPr marL="139700" lvl="0" indent="0">
              <a:buClr>
                <a:schemeClr val="lt2"/>
              </a:buClr>
              <a:buNone/>
            </a:pPr>
            <a:endParaRPr dirty="0">
              <a:solidFill>
                <a:schemeClr val="lt2"/>
              </a:solidFill>
            </a:endParaRPr>
          </a:p>
        </p:txBody>
      </p:sp>
    </p:spTree>
    <p:extLst>
      <p:ext uri="{BB962C8B-B14F-4D97-AF65-F5344CB8AC3E}">
        <p14:creationId xmlns:p14="http://schemas.microsoft.com/office/powerpoint/2010/main" val="5925430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References:</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a:solidFill>
                  <a:schemeClr val="lt2"/>
                </a:solidFill>
              </a:rPr>
              <a:t>Ahmad, I., </a:t>
            </a:r>
            <a:r>
              <a:rPr lang="en-US" sz="1600" dirty="0" err="1">
                <a:solidFill>
                  <a:schemeClr val="lt2"/>
                </a:solidFill>
              </a:rPr>
              <a:t>Shahabuddin</a:t>
            </a:r>
            <a:r>
              <a:rPr lang="en-US" sz="1600" dirty="0">
                <a:solidFill>
                  <a:schemeClr val="lt2"/>
                </a:solidFill>
              </a:rPr>
              <a:t>, S., Malik, H., </a:t>
            </a:r>
            <a:r>
              <a:rPr lang="en-US" sz="1600" dirty="0" err="1">
                <a:solidFill>
                  <a:schemeClr val="lt2"/>
                </a:solidFill>
              </a:rPr>
              <a:t>Harjula</a:t>
            </a:r>
            <a:r>
              <a:rPr lang="en-US" sz="1600" dirty="0">
                <a:solidFill>
                  <a:schemeClr val="lt2"/>
                </a:solidFill>
              </a:rPr>
              <a:t>, E., </a:t>
            </a:r>
            <a:r>
              <a:rPr lang="en-US" sz="1600" dirty="0" err="1">
                <a:solidFill>
                  <a:schemeClr val="lt2"/>
                </a:solidFill>
              </a:rPr>
              <a:t>Leppänen</a:t>
            </a:r>
            <a:r>
              <a:rPr lang="en-US" sz="1600" dirty="0">
                <a:solidFill>
                  <a:schemeClr val="lt2"/>
                </a:solidFill>
              </a:rPr>
              <a:t>, T., </a:t>
            </a:r>
            <a:r>
              <a:rPr lang="en-US" sz="1600" dirty="0" err="1">
                <a:solidFill>
                  <a:schemeClr val="lt2"/>
                </a:solidFill>
              </a:rPr>
              <a:t>Loven</a:t>
            </a:r>
            <a:r>
              <a:rPr lang="en-US" sz="1600" dirty="0">
                <a:solidFill>
                  <a:schemeClr val="lt2"/>
                </a:solidFill>
              </a:rPr>
              <a:t>, L., ... and </a:t>
            </a:r>
            <a:r>
              <a:rPr lang="en-US" sz="1600" dirty="0" err="1">
                <a:solidFill>
                  <a:schemeClr val="lt2"/>
                </a:solidFill>
              </a:rPr>
              <a:t>Riekki</a:t>
            </a:r>
            <a:r>
              <a:rPr lang="en-US" sz="1600" dirty="0">
                <a:solidFill>
                  <a:schemeClr val="lt2"/>
                </a:solidFill>
              </a:rPr>
              <a:t>, J. (2020). Machine learning meets communication networks: Current trends and future challenges. IEEE access, 8, 223418-223460</a:t>
            </a:r>
            <a:r>
              <a:rPr lang="en-US" sz="1600" dirty="0" smtClean="0">
                <a:solidFill>
                  <a:schemeClr val="lt2"/>
                </a:solidFill>
              </a:rPr>
              <a:t>.</a:t>
            </a:r>
          </a:p>
          <a:p>
            <a:pPr marL="139700" lvl="0" indent="0">
              <a:buClr>
                <a:schemeClr val="lt2"/>
              </a:buClr>
              <a:buNone/>
            </a:pPr>
            <a:endParaRPr lang="en-US" sz="1600" dirty="0" smtClean="0">
              <a:solidFill>
                <a:schemeClr val="lt2"/>
              </a:solidFill>
            </a:endParaRPr>
          </a:p>
          <a:p>
            <a:pPr marL="139700" lvl="0" indent="0">
              <a:buClr>
                <a:schemeClr val="lt2"/>
              </a:buClr>
              <a:buNone/>
            </a:pPr>
            <a:r>
              <a:rPr lang="en-US" sz="1600" dirty="0" smtClean="0">
                <a:solidFill>
                  <a:schemeClr val="lt2"/>
                </a:solidFill>
              </a:rPr>
              <a:t>Chen</a:t>
            </a:r>
            <a:r>
              <a:rPr lang="en-US" sz="1600" dirty="0">
                <a:solidFill>
                  <a:schemeClr val="lt2"/>
                </a:solidFill>
              </a:rPr>
              <a:t>, G., Wu, T., Yang, F., Wang, T., Song, J., and Han, Z. (2022). Ultraviolet-based UAV swarm communications: Potentials and challenges. IEEE Wireless Communications, 29(5), 84-90</a:t>
            </a:r>
            <a:r>
              <a:rPr lang="en-US" sz="1600" dirty="0" smtClean="0">
                <a:solidFill>
                  <a:schemeClr val="lt2"/>
                </a:solidFill>
              </a:rPr>
              <a:t>.</a:t>
            </a:r>
          </a:p>
          <a:p>
            <a:pPr marL="139700" lvl="0" indent="0">
              <a:buClr>
                <a:schemeClr val="lt2"/>
              </a:buClr>
              <a:buNone/>
            </a:pPr>
            <a:endParaRPr lang="en-US" sz="1600" dirty="0" smtClean="0">
              <a:solidFill>
                <a:schemeClr val="lt2"/>
              </a:solidFill>
            </a:endParaRPr>
          </a:p>
          <a:p>
            <a:pPr marL="139700" lvl="0" indent="0">
              <a:buClr>
                <a:schemeClr val="lt2"/>
              </a:buClr>
              <a:buNone/>
            </a:pPr>
            <a:r>
              <a:rPr lang="en-US" sz="1600" dirty="0" smtClean="0">
                <a:solidFill>
                  <a:schemeClr val="lt2"/>
                </a:solidFill>
              </a:rPr>
              <a:t>El-</a:t>
            </a:r>
            <a:r>
              <a:rPr lang="en-US" sz="1600" dirty="0" err="1" smtClean="0">
                <a:solidFill>
                  <a:schemeClr val="lt2"/>
                </a:solidFill>
              </a:rPr>
              <a:t>Shimy</a:t>
            </a:r>
            <a:r>
              <a:rPr lang="en-US" sz="1600" dirty="0">
                <a:solidFill>
                  <a:schemeClr val="lt2"/>
                </a:solidFill>
              </a:rPr>
              <a:t>, M. A., and </a:t>
            </a:r>
            <a:r>
              <a:rPr lang="en-US" sz="1600" dirty="0" err="1">
                <a:solidFill>
                  <a:schemeClr val="lt2"/>
                </a:solidFill>
              </a:rPr>
              <a:t>Hranilovic</a:t>
            </a:r>
            <a:r>
              <a:rPr lang="en-US" sz="1600" dirty="0">
                <a:solidFill>
                  <a:schemeClr val="lt2"/>
                </a:solidFill>
              </a:rPr>
              <a:t>, S. (2015). Spatial-diversity imaging receivers for non-line-of-sight solar-blind UV communications. Journal of Lightwave Technology, 33(11), 2246-2255</a:t>
            </a:r>
            <a:r>
              <a:rPr lang="en-US" sz="1600" dirty="0" smtClean="0">
                <a:solidFill>
                  <a:schemeClr val="lt2"/>
                </a:solidFill>
              </a:rPr>
              <a:t>.</a:t>
            </a:r>
          </a:p>
          <a:p>
            <a:pPr marL="139700" lvl="0" indent="0">
              <a:buClr>
                <a:schemeClr val="lt2"/>
              </a:buClr>
              <a:buNone/>
            </a:pPr>
            <a:endParaRPr lang="en-US" sz="1600" dirty="0" smtClean="0">
              <a:solidFill>
                <a:schemeClr val="lt2"/>
              </a:solidFill>
            </a:endParaRPr>
          </a:p>
          <a:p>
            <a:pPr marL="139700" lvl="0" indent="0">
              <a:buClr>
                <a:schemeClr val="lt2"/>
              </a:buClr>
              <a:buNone/>
            </a:pPr>
            <a:r>
              <a:rPr lang="en-US" sz="1600" dirty="0" smtClean="0">
                <a:solidFill>
                  <a:schemeClr val="lt2"/>
                </a:solidFill>
              </a:rPr>
              <a:t>Geller</a:t>
            </a:r>
            <a:r>
              <a:rPr lang="en-US" sz="1600" dirty="0">
                <a:solidFill>
                  <a:schemeClr val="lt2"/>
                </a:solidFill>
              </a:rPr>
              <a:t>, M., Johnson, G. B., Yen, J. H., and Clapp, G. A. (1986). Short-range UV communication links. In Proceedings of the Tactical Communication Conference (p. 60</a:t>
            </a:r>
            <a:r>
              <a:rPr lang="en-US" sz="1600" dirty="0" smtClean="0">
                <a:solidFill>
                  <a:schemeClr val="lt2"/>
                </a:solidFill>
              </a:rPr>
              <a:t>).</a:t>
            </a:r>
          </a:p>
        </p:txBody>
      </p:sp>
    </p:spTree>
    <p:extLst>
      <p:ext uri="{BB962C8B-B14F-4D97-AF65-F5344CB8AC3E}">
        <p14:creationId xmlns:p14="http://schemas.microsoft.com/office/powerpoint/2010/main" val="28437171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4741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References:</a:t>
            </a:r>
            <a:endParaRPr sz="3000" dirty="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139700" lvl="0" indent="0">
              <a:buClr>
                <a:schemeClr val="lt2"/>
              </a:buClr>
              <a:buNone/>
            </a:pPr>
            <a:r>
              <a:rPr lang="en-US" sz="1600" dirty="0" err="1">
                <a:solidFill>
                  <a:schemeClr val="lt2"/>
                </a:solidFill>
              </a:rPr>
              <a:t>Guo</a:t>
            </a:r>
            <a:r>
              <a:rPr lang="en-US" sz="1600" dirty="0">
                <a:solidFill>
                  <a:schemeClr val="lt2"/>
                </a:solidFill>
              </a:rPr>
              <a:t>, L., </a:t>
            </a:r>
            <a:r>
              <a:rPr lang="en-US" sz="1600" dirty="0" err="1">
                <a:solidFill>
                  <a:schemeClr val="lt2"/>
                </a:solidFill>
              </a:rPr>
              <a:t>Guo</a:t>
            </a:r>
            <a:r>
              <a:rPr lang="en-US" sz="1600" dirty="0">
                <a:solidFill>
                  <a:schemeClr val="lt2"/>
                </a:solidFill>
              </a:rPr>
              <a:t>, Y., Wang, J., and Wei, T. (2021). Ultraviolet communication technique and its application. Journal of Semiconductors, 42(8), 081801.</a:t>
            </a:r>
          </a:p>
          <a:p>
            <a:pPr marL="139700" lvl="0" indent="0">
              <a:buClr>
                <a:schemeClr val="lt2"/>
              </a:buClr>
              <a:buNone/>
            </a:pPr>
            <a:r>
              <a:rPr lang="en-US" sz="1600" dirty="0">
                <a:solidFill>
                  <a:schemeClr val="lt2"/>
                </a:solidFill>
              </a:rPr>
              <a:t>Harvey, G. L. (1964). A survey of ultraviolet communication systems (No. NRL6037</a:t>
            </a:r>
            <a:r>
              <a:rPr lang="en-US" sz="1600" dirty="0" smtClean="0">
                <a:solidFill>
                  <a:schemeClr val="lt2"/>
                </a:solidFill>
              </a:rPr>
              <a:t>).</a:t>
            </a:r>
          </a:p>
          <a:p>
            <a:pPr marL="139700" lvl="0" indent="0">
              <a:buClr>
                <a:schemeClr val="lt2"/>
              </a:buClr>
              <a:buNone/>
            </a:pPr>
            <a:endParaRPr lang="en-US" sz="1600" dirty="0">
              <a:solidFill>
                <a:schemeClr val="lt2"/>
              </a:solidFill>
            </a:endParaRPr>
          </a:p>
          <a:p>
            <a:pPr marL="139700" lvl="0" indent="0">
              <a:buClr>
                <a:schemeClr val="lt2"/>
              </a:buClr>
              <a:buNone/>
            </a:pPr>
            <a:r>
              <a:rPr lang="en-US" sz="1600" dirty="0" err="1">
                <a:solidFill>
                  <a:schemeClr val="lt2"/>
                </a:solidFill>
              </a:rPr>
              <a:t>Koller</a:t>
            </a:r>
            <a:r>
              <a:rPr lang="en-US" sz="1600" dirty="0">
                <a:solidFill>
                  <a:schemeClr val="lt2"/>
                </a:solidFill>
              </a:rPr>
              <a:t>, L. R. (1965). Ultraviolet Radiation. New York: John Wiley and Sons. 2nd ed</a:t>
            </a:r>
            <a:r>
              <a:rPr lang="en-US" sz="1600" dirty="0" smtClean="0">
                <a:solidFill>
                  <a:schemeClr val="lt2"/>
                </a:solidFill>
              </a:rPr>
              <a:t>.</a:t>
            </a:r>
          </a:p>
          <a:p>
            <a:pPr marL="139700" lvl="0" indent="0">
              <a:buClr>
                <a:schemeClr val="lt2"/>
              </a:buClr>
              <a:buNone/>
            </a:pPr>
            <a:endParaRPr lang="en-US" sz="1600" dirty="0">
              <a:solidFill>
                <a:schemeClr val="lt2"/>
              </a:solidFill>
            </a:endParaRPr>
          </a:p>
          <a:p>
            <a:pPr marL="139700" lvl="0" indent="0">
              <a:buClr>
                <a:schemeClr val="lt2"/>
              </a:buClr>
              <a:buNone/>
            </a:pPr>
            <a:r>
              <a:rPr lang="en-US" sz="1600" dirty="0" err="1">
                <a:solidFill>
                  <a:schemeClr val="lt2"/>
                </a:solidFill>
              </a:rPr>
              <a:t>Luettgen</a:t>
            </a:r>
            <a:r>
              <a:rPr lang="en-US" sz="1600" dirty="0">
                <a:solidFill>
                  <a:schemeClr val="lt2"/>
                </a:solidFill>
              </a:rPr>
              <a:t>, M. R., Shapiro, J. H., and Reilly, D. M. (1991). Non-line-of-sight single-scatter propagation model. Journal of the Optical Society of America A, 8(12), 1964-1972</a:t>
            </a:r>
            <a:r>
              <a:rPr lang="en-US" sz="1600" dirty="0" smtClean="0">
                <a:solidFill>
                  <a:schemeClr val="lt2"/>
                </a:solidFill>
              </a:rPr>
              <a:t>.</a:t>
            </a:r>
          </a:p>
          <a:p>
            <a:pPr marL="139700" lvl="0" indent="0">
              <a:buClr>
                <a:schemeClr val="lt2"/>
              </a:buClr>
              <a:buNone/>
            </a:pPr>
            <a:endParaRPr lang="en-US" sz="1600" dirty="0">
              <a:solidFill>
                <a:schemeClr val="lt2"/>
              </a:solidFill>
            </a:endParaRPr>
          </a:p>
          <a:p>
            <a:pPr marL="139700" lvl="0" indent="0">
              <a:buClr>
                <a:schemeClr val="lt2"/>
              </a:buClr>
              <a:buNone/>
            </a:pPr>
            <a:r>
              <a:rPr lang="en-US" sz="1600" dirty="0" err="1">
                <a:solidFill>
                  <a:schemeClr val="lt2"/>
                </a:solidFill>
              </a:rPr>
              <a:t>Maclure</a:t>
            </a:r>
            <a:r>
              <a:rPr lang="en-US" sz="1600" dirty="0">
                <a:solidFill>
                  <a:schemeClr val="lt2"/>
                </a:solidFill>
              </a:rPr>
              <a:t>, D. M., Chen, C., McKendry, J. J., </a:t>
            </a:r>
            <a:r>
              <a:rPr lang="en-US" sz="1600" dirty="0" err="1">
                <a:solidFill>
                  <a:schemeClr val="lt2"/>
                </a:solidFill>
              </a:rPr>
              <a:t>Xie</a:t>
            </a:r>
            <a:r>
              <a:rPr lang="en-US" sz="1600" dirty="0">
                <a:solidFill>
                  <a:schemeClr val="lt2"/>
                </a:solidFill>
              </a:rPr>
              <a:t>, E., Hill, J., </a:t>
            </a:r>
            <a:r>
              <a:rPr lang="en-US" sz="1600" dirty="0" err="1">
                <a:solidFill>
                  <a:schemeClr val="lt2"/>
                </a:solidFill>
              </a:rPr>
              <a:t>Herrnsdorf</a:t>
            </a:r>
            <a:r>
              <a:rPr lang="en-US" sz="1600" dirty="0">
                <a:solidFill>
                  <a:schemeClr val="lt2"/>
                </a:solidFill>
              </a:rPr>
              <a:t>, J., ... and Dawson, M. D. (2022). Hundred-meter Gb/s deep ultraviolet wireless communications using </a:t>
            </a:r>
            <a:r>
              <a:rPr lang="en-US" sz="1600" dirty="0" err="1">
                <a:solidFill>
                  <a:schemeClr val="lt2"/>
                </a:solidFill>
              </a:rPr>
              <a:t>AlGaN</a:t>
            </a:r>
            <a:r>
              <a:rPr lang="en-US" sz="1600" dirty="0">
                <a:solidFill>
                  <a:schemeClr val="lt2"/>
                </a:solidFill>
              </a:rPr>
              <a:t> micro-LEDs. Optics Express, 30(26), 46811-46821.</a:t>
            </a:r>
          </a:p>
        </p:txBody>
      </p:sp>
    </p:spTree>
    <p:extLst>
      <p:ext uri="{BB962C8B-B14F-4D97-AF65-F5344CB8AC3E}">
        <p14:creationId xmlns:p14="http://schemas.microsoft.com/office/powerpoint/2010/main" val="773154678"/>
      </p:ext>
    </p:extLst>
  </p:cSld>
  <p:clrMapOvr>
    <a:masterClrMapping/>
  </p:clrMapOvr>
  <p:timing>
    <p:tnLst>
      <p:par>
        <p:cTn id="1" dur="indefinite" restart="never" nodeType="tmRoot"/>
      </p:par>
    </p:tnLst>
  </p:timing>
</p:sld>
</file>

<file path=ppt/theme/theme1.xml><?xml version="1.0" encoding="utf-8"?>
<a:theme xmlns:a="http://schemas.openxmlformats.org/drawingml/2006/main"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1219</Words>
  <Application>Microsoft Office PowerPoint</Application>
  <PresentationFormat>عرض على الشاشة (9:16)‏</PresentationFormat>
  <Paragraphs>101</Paragraphs>
  <Slides>16</Slides>
  <Notes>16</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16</vt:i4>
      </vt:variant>
    </vt:vector>
  </HeadingPairs>
  <TitlesOfParts>
    <vt:vector size="24" baseType="lpstr">
      <vt:lpstr>Arial</vt:lpstr>
      <vt:lpstr>Roboto Condensed Light</vt:lpstr>
      <vt:lpstr>Anaheim</vt:lpstr>
      <vt:lpstr>Rajdhani</vt:lpstr>
      <vt:lpstr>Fira Sans Condensed</vt:lpstr>
      <vt:lpstr>Fira Sans Condensed Light</vt:lpstr>
      <vt:lpstr>Roboto</vt:lpstr>
      <vt:lpstr>AI Tech Agency Infographics by Slidesgo</vt:lpstr>
      <vt:lpstr>Enhancing Ultraviolet Communication Systems Using Machine Learning</vt:lpstr>
      <vt:lpstr>This Research Was Completed Through The Efforts of:</vt:lpstr>
      <vt:lpstr>Research Sections:</vt:lpstr>
      <vt:lpstr>Introduction</vt:lpstr>
      <vt:lpstr>Literature Review</vt:lpstr>
      <vt:lpstr>Research Gap</vt:lpstr>
      <vt:lpstr>Research Questions</vt:lpstr>
      <vt:lpstr>Ultraviolet communication and Machine Learning Integration</vt:lpstr>
      <vt:lpstr>Methodology</vt:lpstr>
      <vt:lpstr>Transition to Simulation</vt:lpstr>
      <vt:lpstr>Transition to Simulation</vt:lpstr>
      <vt:lpstr>Discussion</vt:lpstr>
      <vt:lpstr>Recommendations:</vt:lpstr>
      <vt:lpstr>Conclusion</vt:lpstr>
      <vt:lpstr>References: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Ultraviolet Communication Systems Using Machine Learning</dc:title>
  <cp:lastModifiedBy>user</cp:lastModifiedBy>
  <cp:revision>11</cp:revision>
  <dcterms:modified xsi:type="dcterms:W3CDTF">2026-04-15T15:07:16Z</dcterms:modified>
</cp:coreProperties>
</file>